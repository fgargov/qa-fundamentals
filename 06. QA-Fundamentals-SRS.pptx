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0"/>
  </p:notesMasterIdLst>
  <p:handoutMasterIdLst>
    <p:handoutMasterId r:id="rId21"/>
  </p:handoutMasterIdLst>
  <p:sldIdLst>
    <p:sldId id="274" r:id="rId3"/>
    <p:sldId id="276" r:id="rId4"/>
    <p:sldId id="353" r:id="rId5"/>
    <p:sldId id="389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349" r:id="rId16"/>
    <p:sldId id="403" r:id="rId17"/>
    <p:sldId id="352" r:id="rId18"/>
    <p:sldId id="393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9"/>
    <a:srgbClr val="FFA72A"/>
    <a:srgbClr val="F0F5FA"/>
    <a:srgbClr val="1A8AFA"/>
    <a:srgbClr val="0097CC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68" autoAdjust="0"/>
    <p:restoredTop sz="94533" autoAdjust="0"/>
  </p:normalViewPr>
  <p:slideViewPr>
    <p:cSldViewPr>
      <p:cViewPr>
        <p:scale>
          <a:sx n="76" d="100"/>
          <a:sy n="76" d="100"/>
        </p:scale>
        <p:origin x="-276" y="-1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3/24/2016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61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77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12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6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6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87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72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creativecommons.org/licenses/by-nc-sa/4.0/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hyperlink" Target="http://www.superhosting.bg/" TargetMode="External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://www.luxoft.com/" TargetMode="External"/><Relationship Id="rId7" Type="http://schemas.openxmlformats.org/officeDocument/2006/relationships/hyperlink" Target="http://komfo.com/" TargetMode="External"/><Relationship Id="rId12" Type="http://schemas.openxmlformats.org/officeDocument/2006/relationships/image" Target="../media/image23.png"/><Relationship Id="rId17" Type="http://schemas.openxmlformats.org/officeDocument/2006/relationships/hyperlink" Target="http://softuni.org/courses" TargetMode="Externa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hyperlink" Target="http://www.softwaregroup-bg.com/" TargetMode="External"/><Relationship Id="rId5" Type="http://schemas.openxmlformats.org/officeDocument/2006/relationships/hyperlink" Target="http://xs-software.com/" TargetMode="External"/><Relationship Id="rId15" Type="http://schemas.openxmlformats.org/officeDocument/2006/relationships/hyperlink" Target="http://www.indeavr.com/" TargetMode="External"/><Relationship Id="rId10" Type="http://schemas.openxmlformats.org/officeDocument/2006/relationships/image" Target="../media/image22.png"/><Relationship Id="rId19" Type="http://schemas.openxmlformats.org/officeDocument/2006/relationships/image" Target="../media/image26.png"/><Relationship Id="rId4" Type="http://schemas.openxmlformats.org/officeDocument/2006/relationships/image" Target="../media/image19.png"/><Relationship Id="rId9" Type="http://schemas.openxmlformats.org/officeDocument/2006/relationships/hyperlink" Target="http://smartit.bg/" TargetMode="External"/><Relationship Id="rId1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creativecommons.org/licenses/by-nc-sa/3.0/deed.en_US" TargetMode="External"/><Relationship Id="rId3" Type="http://schemas.openxmlformats.org/officeDocument/2006/relationships/hyperlink" Target="http://creativecommons.org/licenses/by-nc-sa/4.0/" TargetMode="External"/><Relationship Id="rId7" Type="http://schemas.openxmlformats.org/officeDocument/2006/relationships/hyperlink" Target="https://telerikacademy.com/Courses/Courses/Details/8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sa/4.0/" TargetMode="External"/><Relationship Id="rId5" Type="http://schemas.openxmlformats.org/officeDocument/2006/relationships/hyperlink" Target="http://www.introprogramming.info/english-intro-csharp-book/" TargetMode="Externa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1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2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://www.facebook.com/SoftwareUniversity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79812" y="457200"/>
            <a:ext cx="7910299" cy="14763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Software Requirements Specification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9812" y="1965299"/>
            <a:ext cx="7910299" cy="1311301"/>
          </a:xfrm>
        </p:spPr>
        <p:txBody>
          <a:bodyPr>
            <a:normAutofit/>
          </a:bodyPr>
          <a:lstStyle/>
          <a:p>
            <a:r>
              <a:rPr lang="en-US" dirty="0" smtClean="0"/>
              <a:t>Reading and Reviewing SRS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4212" y="4410539"/>
            <a:ext cx="3187613" cy="525135"/>
          </a:xfrm>
        </p:spPr>
        <p:txBody>
          <a:bodyPr/>
          <a:lstStyle/>
          <a:p>
            <a:r>
              <a:rPr lang="en-US" dirty="0" smtClean="0"/>
              <a:t>Ivan </a:t>
            </a:r>
            <a:r>
              <a:rPr lang="en-US" dirty="0" err="1" smtClean="0"/>
              <a:t>Yonkov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3" y="4880438"/>
            <a:ext cx="3187614" cy="444343"/>
          </a:xfrm>
        </p:spPr>
        <p:txBody>
          <a:bodyPr/>
          <a:lstStyle/>
          <a:p>
            <a:r>
              <a:rPr lang="en-US" dirty="0" smtClean="0"/>
              <a:t>Training Lead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84212" y="5641061"/>
            <a:ext cx="3187613" cy="363552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4212" y="5982223"/>
            <a:ext cx="3187613" cy="331235"/>
          </a:xfrm>
        </p:spPr>
        <p:txBody>
          <a:bodyPr/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softuni.bg</a:t>
            </a:r>
            <a:endParaRPr lang="en-US" dirty="0"/>
          </a:p>
        </p:txBody>
      </p:sp>
      <p:pic>
        <p:nvPicPr>
          <p:cNvPr id="1028" name="Picture 4" title="CC-BY-NC-SA License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783" y="3219091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12" descr="http://softuni.bg" title="SoftUni Code Wizar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79812" y="3968769"/>
            <a:ext cx="2133598" cy="234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4696515" y="4010498"/>
            <a:ext cx="2148858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QA</a:t>
            </a:r>
          </a:p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Fundamentals</a:t>
            </a:r>
          </a:p>
        </p:txBody>
      </p:sp>
      <p:pic>
        <p:nvPicPr>
          <p:cNvPr id="17" name="Picture 16" descr="http://softuni.org" title="Software University Foundation">
            <a:hlinkClick r:id="rId7" tooltip="Software University Foundation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745783" y="2057400"/>
            <a:ext cx="2175525" cy="83855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026" name="Picture 2" descr="http://media.instantcustomer.com/20357/0/198_documents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2" y="3048000"/>
            <a:ext cx="47625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What is SRS?</a:t>
            </a:r>
            <a:endParaRPr lang="bg-BG" dirty="0" smtClean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Requirements</a:t>
            </a:r>
            <a:endParaRPr lang="bg-BG" dirty="0" smtClean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Use Cases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Readability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212" y="1638368"/>
            <a:ext cx="3429001" cy="44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First Look at SRS</a:t>
            </a:r>
            <a:endParaRPr lang="en-US" dirty="0"/>
          </a:p>
        </p:txBody>
      </p:sp>
      <p:pic>
        <p:nvPicPr>
          <p:cNvPr id="2050" name="Picture 2" descr="http://www.k-inside.com/web/wp-content/uploads/2013/04/StopDisruptsReqSoluti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2" y="1143000"/>
            <a:ext cx="509587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First Look at SRS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5255" y="1600200"/>
            <a:ext cx="8886507" cy="17851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 </a:t>
            </a:r>
            <a:r>
              <a:rPr lang="en-US" sz="2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software requirements specification (SRS) </a:t>
            </a: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is a description of a software system to be developed, laying out functional and non-functional requirements, and may include a set of use cases that describe interactions the users will have with the software.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15272" y="3657600"/>
            <a:ext cx="11804822" cy="2286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Establishes the basic agreement between costumer and contractor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What software product to do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What is NOT expected to do</a:t>
            </a:r>
          </a:p>
        </p:txBody>
      </p:sp>
    </p:spTree>
    <p:extLst>
      <p:ext uri="{BB962C8B-B14F-4D97-AF65-F5344CB8AC3E}">
        <p14:creationId xmlns:p14="http://schemas.microsoft.com/office/powerpoint/2010/main" val="262521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First Look at SRS (2)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397" y="1371600"/>
            <a:ext cx="11804822" cy="27432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Should enlist enough and necessary requirements for the project development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Should have clear understanding of the product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Often changed after each meeting with customer</a:t>
            </a:r>
          </a:p>
          <a:p>
            <a:pPr marL="377887" lvl="1" indent="0">
              <a:lnSpc>
                <a:spcPct val="100000"/>
              </a:lnSpc>
              <a:buNone/>
            </a:pPr>
            <a:r>
              <a:rPr lang="en-US" sz="26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pic>
        <p:nvPicPr>
          <p:cNvPr id="3078" name="Picture 6" descr="https://encrypted-tbn1.gstatic.com/images?q=tbn:ANd9GcTK6VQxzVAqDpeUhI-RFTnfrX8Zj3Sl16CdUyLsNH1HHfhYc7c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2" y="3636802"/>
            <a:ext cx="54102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4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Use Cases</a:t>
            </a:r>
            <a:endParaRPr lang="en-US" dirty="0"/>
          </a:p>
        </p:txBody>
      </p:sp>
      <p:pic>
        <p:nvPicPr>
          <p:cNvPr id="4102" name="Picture 6" descr="https://encrypted-tbn0.gstatic.com/images?q=tbn:ANd9GcR_PYsqspWK7tEfgaE4ZUlwYQwZDubLSug32UvikkQMxhJeY93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2" y="1846659"/>
            <a:ext cx="4343400" cy="296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75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Cases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397" y="1371600"/>
            <a:ext cx="11804822" cy="4495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List of interaction steps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Defines relation between an actor and a system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Usually satisfying a goal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Actors are able to take decisions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Decisions lead to subcases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9566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Cases (2)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397" y="1371600"/>
            <a:ext cx="11804822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Models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Can be modeled via UML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Can be flat text documents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Template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Name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Actors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Preconditions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Flow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Post conditions</a:t>
            </a:r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pPr lvl="1">
              <a:lnSpc>
                <a:spcPct val="100000"/>
              </a:lnSpc>
            </a:pPr>
            <a:endParaRPr lang="en-US" sz="3000" dirty="0"/>
          </a:p>
        </p:txBody>
      </p:sp>
      <p:pic>
        <p:nvPicPr>
          <p:cNvPr id="6146" name="Picture 2" descr="http://www.hartmannsoftware.com/images/UML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2" y="2590800"/>
            <a:ext cx="34861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4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Use Cases</a:t>
            </a:r>
            <a:r>
              <a:rPr lang="bg-BG" dirty="0" smtClean="0"/>
              <a:t> </a:t>
            </a:r>
            <a:r>
              <a:rPr lang="en-US" dirty="0" smtClean="0"/>
              <a:t>– Live Demo</a:t>
            </a:r>
            <a:endParaRPr lang="en-US" dirty="0"/>
          </a:p>
        </p:txBody>
      </p:sp>
      <p:pic>
        <p:nvPicPr>
          <p:cNvPr id="4102" name="Picture 6" descr="https://encrypted-tbn0.gstatic.com/images?q=tbn:ANd9GcR_PYsqspWK7tEfgaE4ZUlwYQwZDubLSug32UvikkQMxhJeY93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2" y="1846659"/>
            <a:ext cx="4343400" cy="296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7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Readability</a:t>
            </a:r>
            <a:endParaRPr lang="en-US" dirty="0"/>
          </a:p>
        </p:txBody>
      </p:sp>
      <p:pic>
        <p:nvPicPr>
          <p:cNvPr id="7170" name="Picture 2" descr="http://payload.cargocollective.com/1/2/77710/1844783/dada-goblet-readability-legibilit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12" y="3048000"/>
            <a:ext cx="47625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65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Readability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397" y="1371600"/>
            <a:ext cx="11804822" cy="4495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In order to be easy to read, an SRS should answer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Contains a high-level description of the scope?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Is it easy to navigate?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Is it easy to distinct primary from secondary cases?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Contains links to related features?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Calls out questions which still need to be addressed?</a:t>
            </a:r>
          </a:p>
          <a:p>
            <a:pPr lvl="1">
              <a:lnSpc>
                <a:spcPct val="100000"/>
              </a:lnSpc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6790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Review</a:t>
            </a:r>
            <a:endParaRPr lang="en-US" dirty="0"/>
          </a:p>
        </p:txBody>
      </p:sp>
      <p:pic>
        <p:nvPicPr>
          <p:cNvPr id="9220" name="Picture 4" descr="http://s3.amazonaws.com/rapgenius/1311949541_ILLUMINATI-ALL-SEEING-EY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2" y="2209800"/>
            <a:ext cx="30480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53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Review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2414" y="2286000"/>
            <a:ext cx="11804822" cy="4648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The review results in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Test scenarios list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Found errors by statically going through the document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Questions for better understanding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Preliminary idea of the test environment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Test scope identification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How many test cases will end-up having</a:t>
            </a:r>
          </a:p>
          <a:p>
            <a:pPr marL="377887" lvl="1" indent="0">
              <a:lnSpc>
                <a:spcPct val="100000"/>
              </a:lnSpc>
              <a:buNone/>
            </a:pPr>
            <a:endParaRPr lang="en-US" sz="30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2414" y="1088867"/>
            <a:ext cx="10943998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SRS review is going to through the document and trying to understand what the target application is going to be like. </a:t>
            </a: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3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412" y="1151121"/>
            <a:ext cx="11804821" cy="55703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What is an SRS?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What does it contain?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How use cases are described?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High level and low level cases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Requirements for readable SRS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Reviewing SRS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How to do it?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Pre-steps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Results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7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2" y="1377953"/>
            <a:ext cx="3791856" cy="281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35" y="5463746"/>
            <a:ext cx="1451877" cy="784654"/>
          </a:xfrm>
          <a:prstGeom prst="roundRect">
            <a:avLst>
              <a:gd name="adj" fmla="val 2953"/>
            </a:avLst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12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7" name="Pictur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9570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8" name="Picture 7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852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9" name="Picture 8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12" y="5475299"/>
            <a:ext cx="2950821" cy="747701"/>
          </a:xfrm>
          <a:prstGeom prst="roundRect">
            <a:avLst>
              <a:gd name="adj" fmla="val 3159"/>
            </a:avLst>
          </a:prstGeom>
        </p:spPr>
      </p:pic>
      <p:pic>
        <p:nvPicPr>
          <p:cNvPr id="10" name="Picture 9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2212" y="5541096"/>
            <a:ext cx="3252400" cy="627432"/>
          </a:xfrm>
          <a:prstGeom prst="roundRect">
            <a:avLst>
              <a:gd name="adj" fmla="val 3159"/>
            </a:avLst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 Specification</a:t>
            </a:r>
          </a:p>
        </p:txBody>
      </p:sp>
      <p:pic>
        <p:nvPicPr>
          <p:cNvPr id="13" name="Picture 12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9214" y="5461225"/>
            <a:ext cx="2551399" cy="787175"/>
          </a:xfrm>
          <a:prstGeom prst="roundRect">
            <a:avLst>
              <a:gd name="adj" fmla="val 2953"/>
            </a:avLst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17"/>
              </a:rPr>
              <a:t>http://softuni.org/courses</a:t>
            </a:r>
            <a:endParaRPr lang="en-US" dirty="0"/>
          </a:p>
        </p:txBody>
      </p:sp>
      <p:pic>
        <p:nvPicPr>
          <p:cNvPr id="18" name="Picture 17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14" name="Picture 13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13"/>
          </p:cNvPr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val="80859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413" y="1151121"/>
            <a:ext cx="11804822" cy="179624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smtClean="0"/>
              <a:t>course (slides, examples, demos, videos, homework, etc.)</a:t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licensed </a:t>
            </a:r>
            <a:r>
              <a:rPr lang="en-US" dirty="0" smtClean="0"/>
              <a:t>under </a:t>
            </a:r>
            <a:r>
              <a:rPr lang="en-US" dirty="0"/>
              <a:t>the 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International</a:t>
            </a:r>
            <a:r>
              <a:rPr lang="en-US" dirty="0"/>
              <a:t>" </a:t>
            </a:r>
            <a:r>
              <a:rPr lang="en-US" dirty="0" smtClean="0"/>
              <a:t>license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4" title="CC-BY-NC-SA License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7637" y="328119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88815" y="4724400"/>
            <a:ext cx="11804822" cy="199707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 smtClean="0"/>
              <a:t>Attribution: this work may contain portions from</a:t>
            </a:r>
          </a:p>
          <a:p>
            <a:pPr lvl="1"/>
            <a:r>
              <a:rPr lang="en-US" sz="2000" dirty="0"/>
              <a:t>"</a:t>
            </a:r>
            <a:r>
              <a:rPr lang="en-US" sz="2000" dirty="0">
                <a:hlinkClick r:id="rId5"/>
              </a:rPr>
              <a:t>Fundamentals of Computer Programming with C#</a:t>
            </a:r>
            <a:r>
              <a:rPr lang="en-US" sz="2000" dirty="0"/>
              <a:t>" </a:t>
            </a:r>
            <a:r>
              <a:rPr lang="en-US" sz="2000" dirty="0" smtClean="0"/>
              <a:t>book by Svetlin Nakov &amp; Co. under </a:t>
            </a:r>
            <a:r>
              <a:rPr lang="en-US" sz="2000" dirty="0" smtClean="0">
                <a:hlinkClick r:id="rId6"/>
              </a:rPr>
              <a:t>CC-BY-SA</a:t>
            </a:r>
            <a:r>
              <a:rPr lang="en-US" sz="2000" dirty="0" smtClean="0"/>
              <a:t> license</a:t>
            </a:r>
          </a:p>
          <a:p>
            <a:pPr lvl="1"/>
            <a:r>
              <a:rPr lang="en-US" sz="2000" dirty="0" smtClean="0"/>
              <a:t>"</a:t>
            </a:r>
            <a:r>
              <a:rPr lang="en-US" sz="2000" dirty="0" smtClean="0">
                <a:hlinkClick r:id="rId7"/>
              </a:rPr>
              <a:t>C# Part I</a:t>
            </a:r>
            <a:r>
              <a:rPr lang="en-US" sz="2000" dirty="0" smtClean="0"/>
              <a:t>" course by </a:t>
            </a:r>
            <a:r>
              <a:rPr lang="en-US" sz="2000" noProof="1" smtClean="0"/>
              <a:t>Telerik Academy</a:t>
            </a:r>
            <a:r>
              <a:rPr lang="en-US" sz="2000" dirty="0" smtClean="0"/>
              <a:t> under </a:t>
            </a:r>
            <a:r>
              <a:rPr lang="en-US" sz="2000" dirty="0" smtClean="0">
                <a:hlinkClick r:id="rId8"/>
              </a:rPr>
              <a:t>CC-BY-NC-SA</a:t>
            </a:r>
            <a:r>
              <a:rPr lang="en-US" sz="2000" dirty="0" smtClean="0"/>
              <a:t> license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64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59899" y="103056"/>
            <a:ext cx="9074150" cy="936625"/>
          </a:xfrm>
        </p:spPr>
        <p:txBody>
          <a:bodyPr>
            <a:normAutofit/>
          </a:bodyPr>
          <a:lstStyle/>
          <a:p>
            <a:r>
              <a:rPr lang="en-US" dirty="0"/>
              <a:t>Free Trainings @ Software University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899" y="1039681"/>
            <a:ext cx="9434513" cy="56393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Software University Foundation 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University </a:t>
            </a:r>
            <a:r>
              <a:rPr lang="en-US" dirty="0"/>
              <a:t>@ </a:t>
            </a:r>
            <a:r>
              <a:rPr lang="en-US" dirty="0" smtClean="0"/>
              <a:t>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</a:t>
            </a:r>
            <a:r>
              <a:rPr lang="en-US" dirty="0"/>
              <a:t>University 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noProof="1" smtClean="0"/>
              <a:t>Software University Forums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9" name="Picture 8" descr="http://softuni.bg" title="Software University">
            <a:hlinkClick r:id="rId4" tooltip="Software University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400" y="1594686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10" name="Picture 9" descr="http://softuni.org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9457098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descr="http://www.facebook.com/SoftwareUniversity" title="Software University @ Facebook">
            <a:hlinkClick r:id="rId10" tooltip="Software University @ Facebook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75536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://www.youtube.com/SoftwareUniversity" title="Software University Videos @ YouTube">
            <a:hlinkClick r:id="rId6" tooltip="Software University YouTube Video Channel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6544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forum.softuni.bg" title="Software University - Forum">
            <a:hlinkClick r:id="rId7" tooltip="Software University Discussion Forum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9334" y="5540172"/>
            <a:ext cx="970156" cy="965726"/>
          </a:xfrm>
          <a:prstGeom prst="rect">
            <a:avLst/>
          </a:prstGeom>
        </p:spPr>
      </p:pic>
      <p:pic>
        <p:nvPicPr>
          <p:cNvPr id="5" name="Picture 4">
            <a:hlinkClick r:id="rId4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304" y="3093954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789</Words>
  <Application>Microsoft Office PowerPoint</Application>
  <PresentationFormat>Custom</PresentationFormat>
  <Paragraphs>147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SoftUni 16x9</vt:lpstr>
      <vt:lpstr>Software Requirements Specification</vt:lpstr>
      <vt:lpstr>Table of Contents</vt:lpstr>
      <vt:lpstr>First Look at SRS</vt:lpstr>
      <vt:lpstr>First Look at SRS</vt:lpstr>
      <vt:lpstr>First Look at SRS (2)</vt:lpstr>
      <vt:lpstr>Use Cases</vt:lpstr>
      <vt:lpstr>Use Cases</vt:lpstr>
      <vt:lpstr>Use Cases (2)</vt:lpstr>
      <vt:lpstr>Use Cases – Live Demo</vt:lpstr>
      <vt:lpstr>Readability</vt:lpstr>
      <vt:lpstr>Readability</vt:lpstr>
      <vt:lpstr>Review</vt:lpstr>
      <vt:lpstr>Review</vt:lpstr>
      <vt:lpstr>Summary</vt:lpstr>
      <vt:lpstr>Software Requirements Specification</vt:lpstr>
      <vt:lpstr>License</vt:lpstr>
      <vt:lpstr>Free Trainings @ Software University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Specification</dc:title>
  <dc:subject>Software Development Course</dc:subject>
  <dc:creator/>
  <cp:keywords>SoftUni, Software University, programming, software development, software engineering, course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2016-03-24T10:55:27Z</dcterms:modified>
  <cp:category>programming; computer programming; software development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