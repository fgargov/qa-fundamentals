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2"/>
  </p:sldMasterIdLst>
  <p:notesMasterIdLst>
    <p:notesMasterId r:id="rId25"/>
  </p:notesMasterIdLst>
  <p:handoutMasterIdLst>
    <p:handoutMasterId r:id="rId26"/>
  </p:handoutMasterIdLst>
  <p:sldIdLst>
    <p:sldId id="274" r:id="rId3"/>
    <p:sldId id="276" r:id="rId4"/>
    <p:sldId id="353" r:id="rId5"/>
    <p:sldId id="394" r:id="rId6"/>
    <p:sldId id="389" r:id="rId7"/>
    <p:sldId id="396" r:id="rId8"/>
    <p:sldId id="397" r:id="rId9"/>
    <p:sldId id="398" r:id="rId10"/>
    <p:sldId id="399" r:id="rId11"/>
    <p:sldId id="400" r:id="rId12"/>
    <p:sldId id="401" r:id="rId13"/>
    <p:sldId id="402" r:id="rId14"/>
    <p:sldId id="403" r:id="rId15"/>
    <p:sldId id="404" r:id="rId16"/>
    <p:sldId id="405" r:id="rId17"/>
    <p:sldId id="406" r:id="rId18"/>
    <p:sldId id="407" r:id="rId19"/>
    <p:sldId id="408" r:id="rId20"/>
    <p:sldId id="349" r:id="rId21"/>
    <p:sldId id="409" r:id="rId22"/>
    <p:sldId id="352" r:id="rId23"/>
    <p:sldId id="393" r:id="rId24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5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0D9"/>
    <a:srgbClr val="FFA72A"/>
    <a:srgbClr val="F0F5FA"/>
    <a:srgbClr val="1A8AFA"/>
    <a:srgbClr val="0097CC"/>
    <a:srgbClr val="FDFFFF"/>
    <a:srgbClr val="603A14"/>
    <a:srgbClr val="E85C0E"/>
    <a:srgbClr val="BAB398"/>
    <a:srgbClr val="ADA485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368" autoAdjust="0"/>
    <p:restoredTop sz="94533" autoAdjust="0"/>
  </p:normalViewPr>
  <p:slideViewPr>
    <p:cSldViewPr>
      <p:cViewPr>
        <p:scale>
          <a:sx n="76" d="100"/>
          <a:sy n="76" d="100"/>
        </p:scale>
        <p:origin x="-276" y="-72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-61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4" d="100"/>
          <a:sy n="64" d="100"/>
        </p:scale>
        <p:origin x="2592" y="6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pPr/>
              <a:t>3/24/2016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47999"/>
            <a:ext cx="6165000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2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 smtClean="0">
                <a:hlinkClick r:id="rId3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dirty="0" smtClean="0"/>
              <a:t>license.</a:t>
            </a:r>
            <a:endParaRPr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165000" y="8748000"/>
            <a:ext cx="691412" cy="394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 sz="1000"/>
              <a:pPr/>
              <a:t>‹#›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F2D8D46A-B586-417D-BFBD-8C8FE0AAF762}" type="datetimeFigureOut">
              <a:rPr lang="en-US" smtClean="0"/>
              <a:pPr/>
              <a:t>3/24/2016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sz="1000" dirty="0" smtClean="0"/>
              <a:t>© Software University Foundation – </a:t>
            </a:r>
            <a:r>
              <a:rPr lang="en-US" sz="1000" u="sng" dirty="0" smtClean="0">
                <a:hlinkClick r:id="rId2"/>
              </a:rPr>
              <a:t>http://softuni.org</a:t>
            </a:r>
            <a:endParaRPr lang="en-US" sz="1000" dirty="0" smtClean="0"/>
          </a:p>
          <a:p>
            <a:r>
              <a:rPr lang="en-US" sz="1000" dirty="0" smtClean="0"/>
              <a:t>This work is licensed under the </a:t>
            </a:r>
            <a:r>
              <a:rPr lang="en-US" sz="1000" u="sng" noProof="1" smtClean="0">
                <a:hlinkClick r:id="rId3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dirty="0" smtClean="0"/>
              <a:t>license.</a:t>
            </a:r>
            <a:endParaRPr lang="en-US" sz="1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8999" y="8747999"/>
            <a:ext cx="547413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3EBA5BD7-F043-4D1B-AA17-CD412FC534D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17780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3619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5397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7175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151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7497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668168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668168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1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905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1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9055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1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9055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668168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1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9055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1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9055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1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9055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1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9055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668168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1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9055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1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9055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1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9055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668168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1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9055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9617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2770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4122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762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hyperlink" Target="http://judge.softuni.bg/" TargetMode="External"/><Relationship Id="rId13" Type="http://schemas.openxmlformats.org/officeDocument/2006/relationships/image" Target="../media/image7.png"/><Relationship Id="rId3" Type="http://schemas.openxmlformats.org/officeDocument/2006/relationships/image" Target="../media/image6.png"/><Relationship Id="rId7" Type="http://schemas.openxmlformats.org/officeDocument/2006/relationships/hyperlink" Target="http://forum.softuni.bg/" TargetMode="External"/><Relationship Id="rId12" Type="http://schemas.openxmlformats.org/officeDocument/2006/relationships/hyperlink" Target="http://www.introprogramming.info/" TargetMode="External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nakov.com/" TargetMode="External"/><Relationship Id="rId11" Type="http://schemas.openxmlformats.org/officeDocument/2006/relationships/hyperlink" Target="http://www.youtube.com/SoftwareUniversity" TargetMode="External"/><Relationship Id="rId5" Type="http://schemas.openxmlformats.org/officeDocument/2006/relationships/hyperlink" Target="http://softuni.org/" TargetMode="External"/><Relationship Id="rId10" Type="http://schemas.openxmlformats.org/officeDocument/2006/relationships/hyperlink" Target="https://twitter.com/softunibg" TargetMode="External"/><Relationship Id="rId4" Type="http://schemas.openxmlformats.org/officeDocument/2006/relationships/hyperlink" Target="http://softuni.bg/" TargetMode="External"/><Relationship Id="rId9" Type="http://schemas.openxmlformats.org/officeDocument/2006/relationships/hyperlink" Target="https://www.facebook.com/SoftwareUniversity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bg bwMode="grayWhite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66413" y="314301"/>
            <a:ext cx="7382341" cy="2000251"/>
          </a:xfrm>
        </p:spPr>
        <p:txBody>
          <a:bodyPr lIns="0" tIns="0" rIns="0" bIns="0">
            <a:normAutofit/>
          </a:bodyPr>
          <a:lstStyle>
            <a:lvl1pPr algn="r">
              <a:defRPr sz="5400">
                <a:solidFill>
                  <a:srgbClr val="F6D18E"/>
                </a:solidFill>
              </a:defRPr>
            </a:lvl1pPr>
          </a:lstStyle>
          <a:p>
            <a:r>
              <a:rPr lang="en-US" dirty="0" smtClean="0"/>
              <a:t>Presentation Title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366413" y="2346299"/>
            <a:ext cx="7382341" cy="175260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0"/>
              </a:spcBef>
              <a:buNone/>
              <a:defRPr sz="4000" cap="none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Presentation Subtitle</a:t>
            </a:r>
            <a:endParaRPr dirty="0"/>
          </a:p>
        </p:txBody>
      </p:sp>
      <p:sp>
        <p:nvSpPr>
          <p:cNvPr id="25" name="Text Placeholder 13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760412" y="4164083"/>
            <a:ext cx="3187613" cy="525135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b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800" b="1" kern="1200" baseline="0" dirty="0" smtClean="0">
                <a:solidFill>
                  <a:srgbClr val="EE792A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Author Name</a:t>
            </a:r>
            <a:endParaRPr lang="en-US" dirty="0"/>
          </a:p>
        </p:txBody>
      </p:sp>
      <p:sp>
        <p:nvSpPr>
          <p:cNvPr id="3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4366413" y="4191000"/>
            <a:ext cx="7382341" cy="1905000"/>
          </a:xfrm>
          <a:prstGeom prst="rect">
            <a:avLst/>
          </a:prstGeom>
        </p:spPr>
        <p:txBody>
          <a:bodyPr lIns="108000" tIns="36000" rIns="108000" bIns="36000"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Insert a Picture Here</a:t>
            </a:r>
            <a:endParaRPr lang="en-US" dirty="0"/>
          </a:p>
        </p:txBody>
      </p:sp>
      <p:sp>
        <p:nvSpPr>
          <p:cNvPr id="32" name="Text Placeholder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760413" y="4633982"/>
            <a:ext cx="3187614" cy="44434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300" b="1" kern="1200" dirty="0" smtClean="0">
                <a:solidFill>
                  <a:srgbClr val="F4B36C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Position</a:t>
            </a:r>
            <a:endParaRPr lang="en-US" dirty="0"/>
          </a:p>
        </p:txBody>
      </p:sp>
      <p:sp>
        <p:nvSpPr>
          <p:cNvPr id="33" name="Text Placeholder 13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760412" y="5011671"/>
            <a:ext cx="3187613" cy="395869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Web Site</a:t>
            </a:r>
            <a:endParaRPr lang="en-US" dirty="0"/>
          </a:p>
        </p:txBody>
      </p:sp>
      <p:sp>
        <p:nvSpPr>
          <p:cNvPr id="34" name="Text Placeholder 13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760412" y="5394605"/>
            <a:ext cx="3187613" cy="363552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800" b="1" kern="1200" dirty="0" smtClean="0">
                <a:solidFill>
                  <a:srgbClr val="F27A44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Company Name</a:t>
            </a:r>
            <a:endParaRPr lang="en-US" dirty="0"/>
          </a:p>
        </p:txBody>
      </p:sp>
      <p:sp>
        <p:nvSpPr>
          <p:cNvPr id="35" name="Text Placeholder 13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760412" y="5735767"/>
            <a:ext cx="3187613" cy="331235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rgbClr val="F27A44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Company Web Site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188814" y="6525002"/>
            <a:ext cx="1223999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373AC-9AA7-423B-BA00-BA1C74164DBD}" type="datetime1">
              <a:rPr lang="en-US" smtClean="0"/>
              <a:pPr/>
              <a:t>3/24/2016</a:t>
            </a:fld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4412" y="6525002"/>
            <a:ext cx="10150400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idx="1" hasCustomPrompt="1"/>
          </p:nvPr>
        </p:nvSpPr>
        <p:spPr>
          <a:xfrm>
            <a:off x="190413" y="1151121"/>
            <a:ext cx="11804822" cy="5570355"/>
          </a:xfrm>
        </p:spPr>
        <p:txBody>
          <a:bodyPr/>
          <a:lstStyle>
            <a:lvl1pPr>
              <a:defRPr sz="3400"/>
            </a:lvl1pPr>
            <a:lvl2pPr>
              <a:defRPr sz="3200"/>
            </a:lvl2pPr>
            <a:lvl3pPr>
              <a:defRPr sz="3000"/>
            </a:lvl3pPr>
            <a:lvl4pPr>
              <a:defRPr sz="2800"/>
            </a:lvl4pPr>
            <a:lvl5pPr>
              <a:defRPr sz="2600"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 smtClean="0"/>
              <a:t>First Level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Level`</a:t>
            </a: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8815" y="40341"/>
            <a:ext cx="9577597" cy="1110780"/>
          </a:xfrm>
        </p:spPr>
        <p:txBody>
          <a:bodyPr/>
          <a:lstStyle>
            <a:lvl1pPr>
              <a:defRPr>
                <a:solidFill>
                  <a:srgbClr val="F3BE60"/>
                </a:solidFill>
                <a:effectLst/>
              </a:defRPr>
            </a:lvl1pPr>
          </a:lstStyle>
          <a:p>
            <a:r>
              <a:rPr lang="en-US" dirty="0" smtClean="0"/>
              <a:t>Slide Title</a:t>
            </a:r>
            <a:endParaRPr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828212" y="228600"/>
            <a:ext cx="2175525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2813" y="4953000"/>
            <a:ext cx="10363200" cy="820600"/>
          </a:xfrm>
        </p:spPr>
        <p:txBody>
          <a:bodyPr wrap="square" lIns="36000" tIns="36000" rIns="36000" bIns="36000" anchor="b">
            <a:spAutoFit/>
          </a:bodyPr>
          <a:lstStyle>
            <a:lvl1pPr algn="ctr">
              <a:defRPr sz="5400" b="1" cap="none" baseline="0"/>
            </a:lvl1pPr>
          </a:lstStyle>
          <a:p>
            <a:r>
              <a:rPr lang="en-US" dirty="0" smtClean="0"/>
              <a:t>Click to Edit Section Title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12813" y="5754968"/>
            <a:ext cx="10363200" cy="719034"/>
          </a:xfrm>
        </p:spPr>
        <p:txBody>
          <a:bodyPr wrap="square" lIns="36000" tIns="36000" rIns="36000" bIns="3600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4000" cap="none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2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Section Subtitle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828212" y="228600"/>
            <a:ext cx="2175525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estions Slide"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9"/>
          <p:cNvSpPr>
            <a:spLocks noGrp="1"/>
          </p:cNvSpPr>
          <p:nvPr>
            <p:ph type="body" sz="quarter" idx="10" hasCustomPrompt="1"/>
          </p:nvPr>
        </p:nvSpPr>
        <p:spPr>
          <a:xfrm>
            <a:off x="1529384" y="6400802"/>
            <a:ext cx="10482604" cy="363552"/>
          </a:xfrm>
          <a:prstGeom prst="rect">
            <a:avLst/>
          </a:prstGeom>
        </p:spPr>
        <p:txBody>
          <a:bodyPr wrap="square" lIns="36000" rIns="36000">
            <a:spAutoFit/>
          </a:bodyPr>
          <a:lstStyle>
            <a:lvl1pPr marL="0" indent="0" algn="r"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 smtClean="0"/>
              <a:t>Course Web Site</a:t>
            </a:r>
            <a:endParaRPr lang="en-US" dirty="0"/>
          </a:p>
        </p:txBody>
      </p:sp>
      <p:pic>
        <p:nvPicPr>
          <p:cNvPr id="55" name="Picture 5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8412" y="261000"/>
            <a:ext cx="2050131" cy="670675"/>
          </a:xfrm>
          <a:prstGeom prst="rect">
            <a:avLst/>
          </a:prstGeom>
        </p:spPr>
      </p:pic>
      <p:sp>
        <p:nvSpPr>
          <p:cNvPr id="50" name="Title 1"/>
          <p:cNvSpPr>
            <a:spLocks noGrp="1"/>
          </p:cNvSpPr>
          <p:nvPr>
            <p:ph type="title" hasCustomPrompt="1"/>
          </p:nvPr>
        </p:nvSpPr>
        <p:spPr>
          <a:xfrm>
            <a:off x="188815" y="40341"/>
            <a:ext cx="9577597" cy="1110780"/>
          </a:xfrm>
        </p:spPr>
        <p:txBody>
          <a:bodyPr/>
          <a:lstStyle>
            <a:lvl1pPr>
              <a:defRPr>
                <a:solidFill>
                  <a:srgbClr val="F3BE60"/>
                </a:solidFill>
                <a:effectLst/>
              </a:defRPr>
            </a:lvl1pPr>
          </a:lstStyle>
          <a:p>
            <a:r>
              <a:rPr lang="en-US" dirty="0" smtClean="0"/>
              <a:t>Presentation Title</a:t>
            </a:r>
            <a:endParaRPr dirty="0"/>
          </a:p>
        </p:txBody>
      </p:sp>
      <p:sp>
        <p:nvSpPr>
          <p:cNvPr id="2" name="TextBox 1">
            <a:hlinkClick r:id="rId4" tooltip="Software University - Quality Education, Profession and Job for Software Engineers"/>
          </p:cNvPr>
          <p:cNvSpPr txBox="1"/>
          <p:nvPr userDrawn="1"/>
        </p:nvSpPr>
        <p:spPr>
          <a:xfrm rot="322982">
            <a:off x="10066442" y="2253546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603A14"/>
                </a:solidFill>
              </a:rPr>
              <a:t>?</a:t>
            </a:r>
            <a:endParaRPr lang="en-US" sz="2000" b="1" dirty="0">
              <a:solidFill>
                <a:srgbClr val="603A14"/>
              </a:solidFill>
            </a:endParaRPr>
          </a:p>
        </p:txBody>
      </p:sp>
      <p:sp>
        <p:nvSpPr>
          <p:cNvPr id="27" name="TextBox 26">
            <a:hlinkClick r:id="rId5" tooltip="Software University Foundaton"/>
          </p:cNvPr>
          <p:cNvSpPr txBox="1"/>
          <p:nvPr userDrawn="1"/>
        </p:nvSpPr>
        <p:spPr>
          <a:xfrm rot="20630519">
            <a:off x="7568290" y="4341197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603A14"/>
                </a:solidFill>
              </a:rPr>
              <a:t>?</a:t>
            </a:r>
            <a:endParaRPr lang="en-US" sz="2000" b="1" dirty="0">
              <a:solidFill>
                <a:srgbClr val="603A14"/>
              </a:solidFill>
            </a:endParaRPr>
          </a:p>
        </p:txBody>
      </p:sp>
      <p:sp>
        <p:nvSpPr>
          <p:cNvPr id="51" name="TextBox 50">
            <a:hlinkClick r:id="rId6" tooltip="Svetlin Nakov - Programming and Education for Developers"/>
          </p:cNvPr>
          <p:cNvSpPr txBox="1"/>
          <p:nvPr userDrawn="1"/>
        </p:nvSpPr>
        <p:spPr>
          <a:xfrm>
            <a:off x="11500162" y="4679637"/>
            <a:ext cx="255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603A14"/>
                </a:solidFill>
              </a:rPr>
              <a:t>?</a:t>
            </a:r>
            <a:endParaRPr lang="en-US" sz="1200" dirty="0">
              <a:solidFill>
                <a:srgbClr val="603A14"/>
              </a:solidFill>
            </a:endParaRPr>
          </a:p>
        </p:txBody>
      </p:sp>
      <p:sp>
        <p:nvSpPr>
          <p:cNvPr id="52" name="TextBox 51">
            <a:hlinkClick r:id="rId7" tooltip="Software University - Discussion Forum"/>
          </p:cNvPr>
          <p:cNvSpPr txBox="1"/>
          <p:nvPr userDrawn="1"/>
        </p:nvSpPr>
        <p:spPr>
          <a:xfrm rot="20971262">
            <a:off x="6094412" y="6109081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603A14"/>
                </a:solidFill>
              </a:rPr>
              <a:t>?</a:t>
            </a:r>
            <a:endParaRPr lang="en-US" sz="1400" dirty="0">
              <a:solidFill>
                <a:srgbClr val="603A14"/>
              </a:solidFill>
            </a:endParaRPr>
          </a:p>
        </p:txBody>
      </p:sp>
      <p:sp>
        <p:nvSpPr>
          <p:cNvPr id="53" name="TextBox 52">
            <a:hlinkClick r:id="rId8" tooltip="Software University - Online Judge System"/>
          </p:cNvPr>
          <p:cNvSpPr txBox="1"/>
          <p:nvPr userDrawn="1"/>
        </p:nvSpPr>
        <p:spPr>
          <a:xfrm rot="569019">
            <a:off x="9155998" y="4032736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smtClean="0">
                <a:solidFill>
                  <a:srgbClr val="603A14"/>
                </a:solidFill>
              </a:rPr>
              <a:t>?</a:t>
            </a:r>
            <a:endParaRPr lang="en-US" sz="1800" b="1" dirty="0">
              <a:solidFill>
                <a:srgbClr val="603A14"/>
              </a:solidFill>
            </a:endParaRPr>
          </a:p>
        </p:txBody>
      </p:sp>
      <p:sp>
        <p:nvSpPr>
          <p:cNvPr id="54" name="TextBox 53">
            <a:hlinkClick r:id="rId9" tooltip="Software University @ Facebook"/>
          </p:cNvPr>
          <p:cNvSpPr txBox="1"/>
          <p:nvPr userDrawn="1"/>
        </p:nvSpPr>
        <p:spPr>
          <a:xfrm rot="219682">
            <a:off x="7047355" y="2560119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603A14"/>
                </a:solidFill>
              </a:rPr>
              <a:t>?</a:t>
            </a:r>
            <a:endParaRPr lang="en-US" sz="2400" b="1" dirty="0">
              <a:solidFill>
                <a:srgbClr val="603A14"/>
              </a:solidFill>
            </a:endParaRPr>
          </a:p>
        </p:txBody>
      </p:sp>
      <p:sp>
        <p:nvSpPr>
          <p:cNvPr id="56" name="TextBox 55">
            <a:hlinkClick r:id="rId10" tooltip="Software University @ Twitter"/>
          </p:cNvPr>
          <p:cNvSpPr txBox="1"/>
          <p:nvPr userDrawn="1"/>
        </p:nvSpPr>
        <p:spPr>
          <a:xfrm rot="20972266">
            <a:off x="11754532" y="2320841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603A14"/>
                </a:solidFill>
              </a:rPr>
              <a:t>?</a:t>
            </a:r>
            <a:endParaRPr lang="en-US" sz="1400" dirty="0">
              <a:solidFill>
                <a:srgbClr val="603A14"/>
              </a:solidFill>
            </a:endParaRPr>
          </a:p>
        </p:txBody>
      </p:sp>
      <p:sp>
        <p:nvSpPr>
          <p:cNvPr id="57" name="TextBox 56">
            <a:hlinkClick r:id="rId11" tooltip="Software University @ YouTube - free training courses and video lessons for software engineers"/>
          </p:cNvPr>
          <p:cNvSpPr txBox="1"/>
          <p:nvPr userDrawn="1"/>
        </p:nvSpPr>
        <p:spPr>
          <a:xfrm rot="562174">
            <a:off x="11774596" y="3447926"/>
            <a:ext cx="255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603A14"/>
                </a:solidFill>
              </a:rPr>
              <a:t>?</a:t>
            </a:r>
            <a:endParaRPr lang="en-US" sz="1200" dirty="0">
              <a:solidFill>
                <a:srgbClr val="603A14"/>
              </a:solidFill>
            </a:endParaRPr>
          </a:p>
        </p:txBody>
      </p:sp>
      <p:sp>
        <p:nvSpPr>
          <p:cNvPr id="58" name="TextBox 57">
            <a:hlinkClick r:id="rId12" tooltip="Programming Fundamentals Book and Vide Lessons: Learn C#, Programming, Data Structures, Algorithms and Quality Coding"/>
          </p:cNvPr>
          <p:cNvSpPr txBox="1"/>
          <p:nvPr userDrawn="1"/>
        </p:nvSpPr>
        <p:spPr>
          <a:xfrm rot="571210">
            <a:off x="11136783" y="5625911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603A14"/>
                </a:solidFill>
              </a:rPr>
              <a:t>?</a:t>
            </a:r>
            <a:endParaRPr lang="en-US" sz="1400" dirty="0">
              <a:solidFill>
                <a:srgbClr val="603A14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 rot="20967714">
            <a:off x="457076" y="2405125"/>
            <a:ext cx="2338944" cy="2395502"/>
          </a:xfrm>
          <a:prstGeom prst="rect">
            <a:avLst/>
          </a:prstGeom>
        </p:spPr>
      </p:pic>
      <p:sp>
        <p:nvSpPr>
          <p:cNvPr id="19" name="Rectangle 18"/>
          <p:cNvSpPr/>
          <p:nvPr userDrawn="1"/>
        </p:nvSpPr>
        <p:spPr>
          <a:xfrm rot="20949717">
            <a:off x="2718532" y="3306088"/>
            <a:ext cx="4540980" cy="948072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6600" b="1" kern="1200" noProof="0" dirty="0" smtClean="0">
                <a:solidFill>
                  <a:srgbClr val="F3BE60"/>
                </a:solidFill>
                <a:latin typeface="+mj-lt"/>
                <a:ea typeface="+mj-ea"/>
                <a:cs typeface="+mj-cs"/>
              </a:rPr>
              <a:t>Questions?</a:t>
            </a:r>
            <a:endParaRPr lang="en-US" sz="6600" b="1" spc="150" dirty="0">
              <a:ln w="11430"/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88799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814" y="6525002"/>
            <a:ext cx="1223999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373AC-9AA7-423B-BA00-BA1C74164DBD}" type="datetime1">
              <a:rPr lang="en-US" smtClean="0"/>
              <a:pPr/>
              <a:t>3/24/2016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4412" y="6525002"/>
            <a:ext cx="10150400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0403" y="39574"/>
            <a:ext cx="11806432" cy="1111549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413" y="1151123"/>
            <a:ext cx="11804822" cy="5570353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 smtClean="0"/>
              <a:t>First Level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7" r:id="rId4"/>
    <p:sldLayoutId id="2147483672" r:id="rId5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F3BE60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F2B254"/>
        </a:buClr>
        <a:buSzPct val="100000"/>
        <a:buFont typeface="Wingdings" panose="05000000000000000000" pitchFamily="2" charset="2"/>
        <a:buChar char="§"/>
        <a:defRPr sz="3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sz="32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EF9A1D"/>
        </a:buClr>
        <a:buSzPct val="80000"/>
        <a:buFont typeface="Wingdings" panose="05000000000000000000" pitchFamily="2" charset="2"/>
        <a:buChar char="§"/>
        <a:defRPr sz="3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ED9411"/>
        </a:buClr>
        <a:buSzPct val="80000"/>
        <a:buFont typeface="Wingdings" panose="05000000000000000000" pitchFamily="2" charset="2"/>
        <a:buChar char="§"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E28D10"/>
        </a:buClr>
        <a:buSzPct val="80000"/>
        <a:buFont typeface="Wingdings" panose="05000000000000000000" pitchFamily="2" charset="2"/>
        <a:buChar char="§"/>
        <a:defRPr sz="26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2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2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6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>
        <p15:guide id="1" orient="horz" pos="2160" userDrawn="1">
          <p15:clr>
            <a:srgbClr val="F26B43"/>
          </p15:clr>
        </p15:guide>
        <p15:guide id="2" pos="184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://softuni.bg/" TargetMode="External"/><Relationship Id="rId7" Type="http://schemas.openxmlformats.org/officeDocument/2006/relationships/hyperlink" Target="http://softuni.or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hyperlink" Target="http://creativecommons.org/licenses/by-nc-sa/4.0/" TargetMode="External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oftwaretestinghelp.com/test-plan-sample-softwaretesting-and-quality-assurance-templates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hyperlink" Target="http://www.superhosting.bg/" TargetMode="External"/><Relationship Id="rId18" Type="http://schemas.openxmlformats.org/officeDocument/2006/relationships/hyperlink" Target="http://netpeak.bg/" TargetMode="External"/><Relationship Id="rId3" Type="http://schemas.openxmlformats.org/officeDocument/2006/relationships/hyperlink" Target="http://www.luxoft.com/" TargetMode="External"/><Relationship Id="rId7" Type="http://schemas.openxmlformats.org/officeDocument/2006/relationships/hyperlink" Target="http://komfo.com/" TargetMode="External"/><Relationship Id="rId12" Type="http://schemas.openxmlformats.org/officeDocument/2006/relationships/image" Target="../media/image29.png"/><Relationship Id="rId17" Type="http://schemas.openxmlformats.org/officeDocument/2006/relationships/hyperlink" Target="http://softuni.org/courses" TargetMode="External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31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png"/><Relationship Id="rId11" Type="http://schemas.openxmlformats.org/officeDocument/2006/relationships/hyperlink" Target="http://www.softwaregroup-bg.com/" TargetMode="External"/><Relationship Id="rId5" Type="http://schemas.openxmlformats.org/officeDocument/2006/relationships/hyperlink" Target="http://xs-software.com/" TargetMode="External"/><Relationship Id="rId15" Type="http://schemas.openxmlformats.org/officeDocument/2006/relationships/hyperlink" Target="http://www.indeavr.com/" TargetMode="External"/><Relationship Id="rId10" Type="http://schemas.openxmlformats.org/officeDocument/2006/relationships/image" Target="../media/image28.png"/><Relationship Id="rId19" Type="http://schemas.openxmlformats.org/officeDocument/2006/relationships/image" Target="../media/image32.png"/><Relationship Id="rId4" Type="http://schemas.openxmlformats.org/officeDocument/2006/relationships/image" Target="../media/image25.png"/><Relationship Id="rId9" Type="http://schemas.openxmlformats.org/officeDocument/2006/relationships/hyperlink" Target="http://smartit.bg/" TargetMode="External"/><Relationship Id="rId1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://creativecommons.org/licenses/by-nc-sa/3.0/deed.en_US" TargetMode="External"/><Relationship Id="rId3" Type="http://schemas.openxmlformats.org/officeDocument/2006/relationships/hyperlink" Target="http://creativecommons.org/licenses/by-nc-sa/4.0/" TargetMode="External"/><Relationship Id="rId7" Type="http://schemas.openxmlformats.org/officeDocument/2006/relationships/hyperlink" Target="https://telerikacademy.com/Courses/Courses/Details/81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creativecommons.org/licenses/by-sa/4.0/" TargetMode="External"/><Relationship Id="rId5" Type="http://schemas.openxmlformats.org/officeDocument/2006/relationships/hyperlink" Target="http://www.introprogramming.info/english-intro-csharp-book/" TargetMode="Externa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7.png"/><Relationship Id="rId3" Type="http://schemas.openxmlformats.org/officeDocument/2006/relationships/hyperlink" Target="http://softuni.org/" TargetMode="External"/><Relationship Id="rId7" Type="http://schemas.openxmlformats.org/officeDocument/2006/relationships/hyperlink" Target="http://forum.softuni.bg/" TargetMode="External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www.youtube.com/SoftwareUniversity" TargetMode="External"/><Relationship Id="rId11" Type="http://schemas.openxmlformats.org/officeDocument/2006/relationships/image" Target="../media/image35.png"/><Relationship Id="rId5" Type="http://schemas.openxmlformats.org/officeDocument/2006/relationships/hyperlink" Target="https://www.facebook.com/SoftwareUniversity" TargetMode="External"/><Relationship Id="rId10" Type="http://schemas.openxmlformats.org/officeDocument/2006/relationships/hyperlink" Target="http://www.facebook.com/SoftwareUniversity" TargetMode="External"/><Relationship Id="rId4" Type="http://schemas.openxmlformats.org/officeDocument/2006/relationships/hyperlink" Target="http://softuni.bg/" TargetMode="External"/><Relationship Id="rId9" Type="http://schemas.openxmlformats.org/officeDocument/2006/relationships/image" Target="../media/image6.png"/><Relationship Id="rId1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3579812" y="457200"/>
            <a:ext cx="7910299" cy="147635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Test Cases, Test Scenarios and Test Execution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684212" y="4410539"/>
            <a:ext cx="3187613" cy="525135"/>
          </a:xfrm>
        </p:spPr>
        <p:txBody>
          <a:bodyPr/>
          <a:lstStyle/>
          <a:p>
            <a:r>
              <a:rPr lang="en-US" dirty="0" smtClean="0"/>
              <a:t>Ivan </a:t>
            </a:r>
            <a:r>
              <a:rPr lang="en-US" dirty="0" err="1" smtClean="0"/>
              <a:t>Yonkov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84213" y="4880438"/>
            <a:ext cx="3187614" cy="444343"/>
          </a:xfrm>
        </p:spPr>
        <p:txBody>
          <a:bodyPr/>
          <a:lstStyle/>
          <a:p>
            <a:r>
              <a:rPr lang="en-US" dirty="0" smtClean="0"/>
              <a:t>Training Lead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/>
          </p:nvPr>
        </p:nvSpPr>
        <p:spPr>
          <a:xfrm>
            <a:off x="684212" y="5641061"/>
            <a:ext cx="3187613" cy="363552"/>
          </a:xfrm>
        </p:spPr>
        <p:txBody>
          <a:bodyPr/>
          <a:lstStyle/>
          <a:p>
            <a:r>
              <a:rPr lang="en-US" dirty="0"/>
              <a:t>Software </a:t>
            </a:r>
            <a:r>
              <a:rPr lang="en-US" dirty="0" smtClean="0"/>
              <a:t>University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684212" y="5982223"/>
            <a:ext cx="3187613" cy="331235"/>
          </a:xfrm>
        </p:spPr>
        <p:txBody>
          <a:bodyPr/>
          <a:lstStyle/>
          <a:p>
            <a:r>
              <a:rPr lang="en-US" dirty="0">
                <a:hlinkClick r:id="rId3"/>
              </a:rPr>
              <a:t>http://</a:t>
            </a:r>
            <a:r>
              <a:rPr lang="en-US" dirty="0" smtClean="0">
                <a:hlinkClick r:id="rId3"/>
              </a:rPr>
              <a:t>softuni.bg</a:t>
            </a:r>
            <a:endParaRPr lang="en-US" dirty="0"/>
          </a:p>
        </p:txBody>
      </p:sp>
      <p:pic>
        <p:nvPicPr>
          <p:cNvPr id="1028" name="Picture 4" title="CC-BY-NC-SA License">
            <a:hlinkClick r:id="rId4" tooltip="This work is licensed under the &quot;Creative Commons Attribution-NonCommercial-ShareAlike 4.0 International&quot; license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5783" y="3219091"/>
            <a:ext cx="2175525" cy="76116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solidFill>
              <a:schemeClr val="accent1">
                <a:lumMod val="75000"/>
                <a:alpha val="50000"/>
              </a:schemeClr>
            </a:solidFill>
          </a:ln>
          <a:extLst/>
        </p:spPr>
      </p:pic>
      <p:pic>
        <p:nvPicPr>
          <p:cNvPr id="13" name="Picture 12" descr="http://softuni.bg" title="SoftUni Code Wizard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79812" y="3968769"/>
            <a:ext cx="2133598" cy="234148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 rot="576164">
            <a:off x="4789594" y="3806198"/>
            <a:ext cx="2148858" cy="7229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b="1" spc="50" dirty="0">
                <a:ln w="9525" cmpd="sng">
                  <a:solidFill>
                    <a:srgbClr val="FFA72A"/>
                  </a:solidFill>
                  <a:prstDash val="solid"/>
                </a:ln>
                <a:solidFill>
                  <a:srgbClr val="FFF0D9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QA</a:t>
            </a:r>
          </a:p>
          <a:p>
            <a:pPr algn="ctr">
              <a:lnSpc>
                <a:spcPct val="85000"/>
              </a:lnSpc>
            </a:pPr>
            <a:r>
              <a:rPr lang="en-US" b="1" spc="50" dirty="0">
                <a:ln w="9525" cmpd="sng">
                  <a:solidFill>
                    <a:srgbClr val="FFA72A"/>
                  </a:solidFill>
                  <a:prstDash val="solid"/>
                </a:ln>
                <a:solidFill>
                  <a:srgbClr val="FFF0D9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 Fundamentals</a:t>
            </a:r>
          </a:p>
        </p:txBody>
      </p:sp>
      <p:pic>
        <p:nvPicPr>
          <p:cNvPr id="17" name="Picture 16" descr="http://softuni.org" title="Software University Foundation">
            <a:hlinkClick r:id="rId7" tooltip="Software University Foundation"/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359" t="-15226" r="-5359" b="-15226"/>
          <a:stretch/>
        </p:blipFill>
        <p:spPr>
          <a:xfrm>
            <a:off x="745783" y="2057400"/>
            <a:ext cx="2175525" cy="83855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solidFill>
              <a:schemeClr val="accent1">
                <a:lumMod val="75000"/>
                <a:alpha val="40000"/>
              </a:schemeClr>
            </a:solidFill>
          </a:ln>
        </p:spPr>
      </p:pic>
      <p:pic>
        <p:nvPicPr>
          <p:cNvPr id="16388" name="Picture 4" descr="http://www.hswatwork.co.uk/wp-content/uploads/2015/02/docs.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107" y="2507436"/>
            <a:ext cx="5619750" cy="315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5379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Table of Contents</a:t>
            </a:r>
            <a:endParaRPr lang="bg-BG" dirty="0"/>
          </a:p>
        </p:txBody>
      </p:sp>
      <p:sp>
        <p:nvSpPr>
          <p:cNvPr id="44441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90413" y="1191467"/>
            <a:ext cx="11804822" cy="5530010"/>
          </a:xfrm>
        </p:spPr>
        <p:txBody>
          <a:bodyPr>
            <a:normAutofit/>
          </a:bodyPr>
          <a:lstStyle/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en-US" dirty="0" smtClean="0"/>
              <a:t>Test Plan</a:t>
            </a:r>
          </a:p>
          <a:p>
            <a:pPr marL="750834" lvl="1" indent="-446088">
              <a:lnSpc>
                <a:spcPts val="4000"/>
              </a:lnSpc>
              <a:buFontTx/>
              <a:buAutoNum type="arabicPeriod"/>
            </a:pPr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Test Coverage</a:t>
            </a:r>
          </a:p>
          <a:p>
            <a:pPr marL="750834" lvl="1" indent="-446088">
              <a:lnSpc>
                <a:spcPts val="4000"/>
              </a:lnSpc>
              <a:buFontTx/>
              <a:buAutoNum type="arabicPeriod"/>
            </a:pPr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Test Methods</a:t>
            </a:r>
          </a:p>
          <a:p>
            <a:pPr marL="750834" lvl="1" indent="-446088">
              <a:lnSpc>
                <a:spcPts val="4000"/>
              </a:lnSpc>
              <a:buFontTx/>
              <a:buAutoNum type="arabicPeriod"/>
            </a:pPr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Test Responsibilities</a:t>
            </a:r>
            <a:endParaRPr lang="bg-BG" sz="2800" dirty="0" smtClean="0">
              <a:solidFill>
                <a:schemeClr val="tx2">
                  <a:lumMod val="75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en-US" dirty="0" smtClean="0"/>
              <a:t>Test Cases</a:t>
            </a:r>
            <a:endParaRPr lang="bg-BG" dirty="0" smtClean="0"/>
          </a:p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en-US" dirty="0" smtClean="0"/>
              <a:t>Test Scenarios</a:t>
            </a:r>
          </a:p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en-US" dirty="0" smtClean="0"/>
              <a:t>Test Execution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</p:spPr>
        <p:txBody>
          <a:bodyPr/>
          <a:lstStyle/>
          <a:p>
            <a:fld id="{C014DD1E-5D91-48A3-AD6D-45FBA980D106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4212" y="1638368"/>
            <a:ext cx="3429001" cy="4421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4956293"/>
            <a:ext cx="8938472" cy="774883"/>
          </a:xfrm>
        </p:spPr>
        <p:txBody>
          <a:bodyPr/>
          <a:lstStyle/>
          <a:p>
            <a:pPr>
              <a:lnSpc>
                <a:spcPts val="5400"/>
              </a:lnSpc>
            </a:pPr>
            <a:r>
              <a:rPr lang="en-US" dirty="0" smtClean="0"/>
              <a:t>Test Plan</a:t>
            </a:r>
            <a:endParaRPr lang="en-US" dirty="0"/>
          </a:p>
        </p:txBody>
      </p:sp>
      <p:pic>
        <p:nvPicPr>
          <p:cNvPr id="1026" name="Picture 2" descr="http://mwpdigitalmedia.com/blog/wp-content/uploads/2014/02/planning-a-video-production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2287" y="1066800"/>
            <a:ext cx="3209925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2194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crackmba.com/wp-content/uploads/2012/01/V-Model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8812" y="1966607"/>
            <a:ext cx="5438775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3789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Test Plan</a:t>
            </a:r>
            <a:endParaRPr lang="bg-BG" dirty="0"/>
          </a:p>
        </p:txBody>
      </p:sp>
      <p:sp>
        <p:nvSpPr>
          <p:cNvPr id="460805" name="Rectangle 5"/>
          <p:cNvSpPr>
            <a:spLocks noGrp="1" noChangeArrowheads="1"/>
          </p:cNvSpPr>
          <p:nvPr>
            <p:ph idx="4294967295"/>
          </p:nvPr>
        </p:nvSpPr>
        <p:spPr>
          <a:xfrm>
            <a:off x="190413" y="1191467"/>
            <a:ext cx="11804822" cy="5530010"/>
          </a:xfrm>
        </p:spPr>
        <p:txBody>
          <a:bodyPr>
            <a:normAutofit/>
          </a:bodyPr>
          <a:lstStyle/>
          <a:p>
            <a:pPr>
              <a:lnSpc>
                <a:spcPts val="3600"/>
              </a:lnSpc>
            </a:pPr>
            <a:r>
              <a:rPr lang="en-US" noProof="1" smtClean="0">
                <a:sym typeface="Wingdings" pitchFamily="2" charset="2"/>
              </a:rPr>
              <a:t>Documents the verification strategy</a:t>
            </a:r>
          </a:p>
          <a:p>
            <a:pPr>
              <a:lnSpc>
                <a:spcPts val="3600"/>
              </a:lnSpc>
            </a:pPr>
            <a:r>
              <a:rPr lang="en-US" noProof="1" smtClean="0">
                <a:sym typeface="Wingdings" pitchFamily="2" charset="2"/>
              </a:rPr>
              <a:t>Strategy may vary on</a:t>
            </a:r>
          </a:p>
          <a:p>
            <a:pPr lvl="1">
              <a:lnSpc>
                <a:spcPts val="3600"/>
              </a:lnSpc>
            </a:pPr>
            <a:r>
              <a:rPr lang="en-US" sz="2800" noProof="1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Design verification or Complience test</a:t>
            </a:r>
          </a:p>
          <a:p>
            <a:pPr lvl="1">
              <a:lnSpc>
                <a:spcPts val="3600"/>
              </a:lnSpc>
            </a:pPr>
            <a:r>
              <a:rPr lang="en-US" sz="2800" noProof="1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Manufactoring or Production test</a:t>
            </a:r>
          </a:p>
          <a:p>
            <a:pPr lvl="1">
              <a:lnSpc>
                <a:spcPts val="3600"/>
              </a:lnSpc>
            </a:pPr>
            <a:r>
              <a:rPr lang="en-US" sz="2800" noProof="1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Acceptance or Commissioning test</a:t>
            </a:r>
          </a:p>
          <a:p>
            <a:pPr lvl="1">
              <a:lnSpc>
                <a:spcPts val="3600"/>
              </a:lnSpc>
            </a:pPr>
            <a:r>
              <a:rPr lang="en-US" sz="2800" noProof="1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Service and repair test</a:t>
            </a:r>
          </a:p>
          <a:p>
            <a:pPr lvl="1">
              <a:lnSpc>
                <a:spcPts val="3600"/>
              </a:lnSpc>
            </a:pPr>
            <a:r>
              <a:rPr lang="en-US" sz="2800" noProof="1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Regression test</a:t>
            </a:r>
            <a:endParaRPr lang="en-US" sz="2800" noProof="1">
              <a:solidFill>
                <a:schemeClr val="tx2">
                  <a:lumMod val="75000"/>
                </a:schemeClr>
              </a:solidFill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pic>
        <p:nvPicPr>
          <p:cNvPr id="3074" name="Picture 2" descr="http://necrophonedotcom.files.wordpress.com/2013/11/strategy-ches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2212" y="3048000"/>
            <a:ext cx="3759200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5214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Test Plan</a:t>
            </a:r>
            <a:r>
              <a:rPr lang="bg-BG" dirty="0" smtClean="0"/>
              <a:t> </a:t>
            </a:r>
            <a:r>
              <a:rPr lang="en-US" dirty="0" smtClean="0"/>
              <a:t>(2)</a:t>
            </a:r>
            <a:endParaRPr lang="bg-BG" dirty="0"/>
          </a:p>
        </p:txBody>
      </p:sp>
      <p:sp>
        <p:nvSpPr>
          <p:cNvPr id="460805" name="Rectangle 5"/>
          <p:cNvSpPr>
            <a:spLocks noGrp="1" noChangeArrowheads="1"/>
          </p:cNvSpPr>
          <p:nvPr>
            <p:ph idx="4294967295"/>
          </p:nvPr>
        </p:nvSpPr>
        <p:spPr>
          <a:xfrm>
            <a:off x="190413" y="1191467"/>
            <a:ext cx="11804822" cy="5530010"/>
          </a:xfrm>
        </p:spPr>
        <p:txBody>
          <a:bodyPr>
            <a:normAutofit/>
          </a:bodyPr>
          <a:lstStyle/>
          <a:p>
            <a:pPr>
              <a:lnSpc>
                <a:spcPts val="3600"/>
              </a:lnSpc>
            </a:pPr>
            <a:r>
              <a:rPr lang="en-US" noProof="1" smtClean="0">
                <a:sym typeface="Wingdings" pitchFamily="2" charset="2"/>
              </a:rPr>
              <a:t>Three major elements should be described</a:t>
            </a:r>
          </a:p>
          <a:p>
            <a:pPr>
              <a:lnSpc>
                <a:spcPts val="3600"/>
              </a:lnSpc>
            </a:pPr>
            <a:endParaRPr lang="en-US" noProof="1" smtClean="0">
              <a:sym typeface="Wingdings" pitchFamily="2" charset="2"/>
            </a:endParaRPr>
          </a:p>
          <a:p>
            <a:pPr lvl="1">
              <a:lnSpc>
                <a:spcPts val="3600"/>
              </a:lnSpc>
            </a:pPr>
            <a:r>
              <a:rPr lang="en-US" sz="2800" noProof="1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Test coverage</a:t>
            </a:r>
          </a:p>
          <a:p>
            <a:pPr lvl="1">
              <a:lnSpc>
                <a:spcPts val="3600"/>
              </a:lnSpc>
            </a:pPr>
            <a:r>
              <a:rPr lang="en-US" sz="2800" noProof="1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Test methods</a:t>
            </a:r>
          </a:p>
          <a:p>
            <a:pPr lvl="1">
              <a:lnSpc>
                <a:spcPts val="3600"/>
              </a:lnSpc>
            </a:pPr>
            <a:r>
              <a:rPr lang="en-US" sz="2800" noProof="1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Test responsibilities</a:t>
            </a:r>
            <a:endParaRPr lang="en-US" sz="2800" noProof="1">
              <a:solidFill>
                <a:schemeClr val="tx2">
                  <a:lumMod val="75000"/>
                </a:schemeClr>
              </a:solidFill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pic>
        <p:nvPicPr>
          <p:cNvPr id="5121" name="Picture 1" descr="C:\Users\RoYaL\AppData\Local\Temp\testelement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3412" y="1925842"/>
            <a:ext cx="2943225" cy="303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8353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Test Plan</a:t>
            </a:r>
            <a:r>
              <a:rPr lang="bg-BG" dirty="0" smtClean="0"/>
              <a:t> </a:t>
            </a:r>
            <a:r>
              <a:rPr lang="en-US" dirty="0" smtClean="0"/>
              <a:t>(3)</a:t>
            </a:r>
            <a:endParaRPr lang="bg-BG" dirty="0"/>
          </a:p>
        </p:txBody>
      </p:sp>
      <p:sp>
        <p:nvSpPr>
          <p:cNvPr id="460805" name="Rectangle 5"/>
          <p:cNvSpPr>
            <a:spLocks noGrp="1" noChangeArrowheads="1"/>
          </p:cNvSpPr>
          <p:nvPr>
            <p:ph idx="4294967295"/>
          </p:nvPr>
        </p:nvSpPr>
        <p:spPr>
          <a:xfrm>
            <a:off x="190413" y="1191467"/>
            <a:ext cx="11804822" cy="1323133"/>
          </a:xfrm>
        </p:spPr>
        <p:txBody>
          <a:bodyPr>
            <a:normAutofit/>
          </a:bodyPr>
          <a:lstStyle/>
          <a:p>
            <a:pPr>
              <a:lnSpc>
                <a:spcPts val="3600"/>
              </a:lnSpc>
            </a:pPr>
            <a:r>
              <a:rPr lang="en-US" noProof="1" smtClean="0">
                <a:sym typeface="Wingdings" pitchFamily="2" charset="2"/>
              </a:rPr>
              <a:t>Test plans usually are written with templates</a:t>
            </a:r>
          </a:p>
          <a:p>
            <a:pPr>
              <a:lnSpc>
                <a:spcPts val="3600"/>
              </a:lnSpc>
            </a:pPr>
            <a:r>
              <a:rPr lang="en-US" sz="2800" noProof="1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  <a:sym typeface="Wingdings" pitchFamily="2" charset="2"/>
                <a:hlinkClick r:id="rId3"/>
              </a:rPr>
              <a:t>Example</a:t>
            </a:r>
            <a:r>
              <a:rPr lang="en-US" noProof="1" smtClean="0">
                <a:sym typeface="Wingdings" pitchFamily="2" charset="2"/>
              </a:rPr>
              <a:t> test 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pic>
        <p:nvPicPr>
          <p:cNvPr id="4098" name="Picture 2" descr="http://www.wordstemplates.org/wp-content/uploads/2012/09/Test-Plan-Templat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1812" y="1828800"/>
            <a:ext cx="3505200" cy="4717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5328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4956293"/>
            <a:ext cx="8938472" cy="774883"/>
          </a:xfrm>
        </p:spPr>
        <p:txBody>
          <a:bodyPr/>
          <a:lstStyle/>
          <a:p>
            <a:pPr>
              <a:lnSpc>
                <a:spcPts val="5400"/>
              </a:lnSpc>
            </a:pPr>
            <a:r>
              <a:rPr lang="en-US" dirty="0" smtClean="0"/>
              <a:t>Test Case</a:t>
            </a:r>
            <a:endParaRPr lang="en-US" dirty="0"/>
          </a:p>
        </p:txBody>
      </p:sp>
      <p:pic>
        <p:nvPicPr>
          <p:cNvPr id="6146" name="Picture 2" descr="http://www-tc.pbs.org/opb/historydetectives/static/media/cache/34/17/341754fb2222f1df8136e0dbd49ae95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212" y="2057400"/>
            <a:ext cx="69913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9588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Test Case</a:t>
            </a:r>
            <a:endParaRPr lang="bg-BG" dirty="0"/>
          </a:p>
        </p:txBody>
      </p:sp>
      <p:sp>
        <p:nvSpPr>
          <p:cNvPr id="460805" name="Rectangle 5"/>
          <p:cNvSpPr>
            <a:spLocks noGrp="1" noChangeArrowheads="1"/>
          </p:cNvSpPr>
          <p:nvPr>
            <p:ph idx="4294967295"/>
          </p:nvPr>
        </p:nvSpPr>
        <p:spPr>
          <a:xfrm>
            <a:off x="190413" y="1191467"/>
            <a:ext cx="11804822" cy="5530010"/>
          </a:xfrm>
        </p:spPr>
        <p:txBody>
          <a:bodyPr>
            <a:normAutofit/>
          </a:bodyPr>
          <a:lstStyle/>
          <a:p>
            <a:pPr>
              <a:lnSpc>
                <a:spcPts val="3600"/>
              </a:lnSpc>
            </a:pPr>
            <a:r>
              <a:rPr lang="en-US" noProof="1" smtClean="0">
                <a:sym typeface="Wingdings" pitchFamily="2" charset="2"/>
              </a:rPr>
              <a:t>Sequence of steps to check the correct behavior</a:t>
            </a:r>
          </a:p>
          <a:p>
            <a:pPr>
              <a:lnSpc>
                <a:spcPts val="3600"/>
              </a:lnSpc>
            </a:pPr>
            <a:r>
              <a:rPr lang="en-US" noProof="1" smtClean="0">
                <a:sym typeface="Wingdings" pitchFamily="2" charset="2"/>
              </a:rPr>
              <a:t>At least two cases to fully test a requirement</a:t>
            </a:r>
          </a:p>
          <a:p>
            <a:pPr lvl="1">
              <a:lnSpc>
                <a:spcPts val="3600"/>
              </a:lnSpc>
            </a:pPr>
            <a:r>
              <a:rPr lang="en-US" sz="2800" noProof="1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A positive test</a:t>
            </a:r>
          </a:p>
          <a:p>
            <a:pPr lvl="1">
              <a:lnSpc>
                <a:spcPts val="3600"/>
              </a:lnSpc>
            </a:pPr>
            <a:r>
              <a:rPr lang="en-US" sz="2800" noProof="1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A negative test</a:t>
            </a:r>
          </a:p>
          <a:p>
            <a:pPr>
              <a:lnSpc>
                <a:spcPts val="3600"/>
              </a:lnSpc>
            </a:pPr>
            <a:r>
              <a:rPr lang="en-US" noProof="1" smtClean="0">
                <a:sym typeface="Wingdings" pitchFamily="2" charset="2"/>
              </a:rPr>
              <a:t>Consist of</a:t>
            </a:r>
          </a:p>
          <a:p>
            <a:pPr lvl="1">
              <a:lnSpc>
                <a:spcPts val="3600"/>
              </a:lnSpc>
            </a:pPr>
            <a:r>
              <a:rPr lang="en-US" sz="2800" noProof="1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Steps to follow</a:t>
            </a:r>
          </a:p>
          <a:p>
            <a:pPr lvl="1">
              <a:lnSpc>
                <a:spcPts val="3600"/>
              </a:lnSpc>
            </a:pPr>
            <a:r>
              <a:rPr lang="en-US" sz="2800" noProof="1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Expected result</a:t>
            </a:r>
          </a:p>
          <a:p>
            <a:pPr lvl="1">
              <a:lnSpc>
                <a:spcPts val="3600"/>
              </a:lnSpc>
            </a:pPr>
            <a:endParaRPr lang="en-US" noProof="1">
              <a:sym typeface="Wingdings" pitchFamily="2" charset="2"/>
            </a:endParaRPr>
          </a:p>
          <a:p>
            <a:pPr>
              <a:lnSpc>
                <a:spcPts val="3600"/>
              </a:lnSpc>
            </a:pPr>
            <a:endParaRPr lang="en-US" noProof="1" smtClean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7172" name="Picture 4" descr="http://www.klaros-testmanagement.com/files/doc/html/images/TestCaseImportSampleSheetWithComment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6212" y="2590800"/>
            <a:ext cx="4768916" cy="2839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1690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Test Case (2)</a:t>
            </a:r>
            <a:endParaRPr lang="bg-BG" dirty="0"/>
          </a:p>
        </p:txBody>
      </p:sp>
      <p:sp>
        <p:nvSpPr>
          <p:cNvPr id="460805" name="Rectangle 5"/>
          <p:cNvSpPr>
            <a:spLocks noGrp="1" noChangeArrowheads="1"/>
          </p:cNvSpPr>
          <p:nvPr>
            <p:ph idx="4294967295"/>
          </p:nvPr>
        </p:nvSpPr>
        <p:spPr>
          <a:xfrm>
            <a:off x="190413" y="1191467"/>
            <a:ext cx="11804822" cy="5530010"/>
          </a:xfrm>
        </p:spPr>
        <p:txBody>
          <a:bodyPr>
            <a:normAutofit/>
          </a:bodyPr>
          <a:lstStyle/>
          <a:p>
            <a:pPr>
              <a:lnSpc>
                <a:spcPts val="3600"/>
              </a:lnSpc>
            </a:pPr>
            <a:r>
              <a:rPr lang="en-US" noProof="1" smtClean="0">
                <a:sym typeface="Wingdings" pitchFamily="2" charset="2"/>
              </a:rPr>
              <a:t>Additionaly may consist of</a:t>
            </a:r>
          </a:p>
          <a:p>
            <a:pPr lvl="1">
              <a:lnSpc>
                <a:spcPts val="3600"/>
              </a:lnSpc>
            </a:pPr>
            <a:r>
              <a:rPr lang="en-US" sz="2800" noProof="1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ID</a:t>
            </a:r>
          </a:p>
          <a:p>
            <a:pPr lvl="1">
              <a:lnSpc>
                <a:spcPts val="3600"/>
              </a:lnSpc>
            </a:pPr>
            <a:r>
              <a:rPr lang="en-US" sz="2800" noProof="1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Description</a:t>
            </a:r>
          </a:p>
          <a:p>
            <a:pPr lvl="1">
              <a:lnSpc>
                <a:spcPts val="3600"/>
              </a:lnSpc>
            </a:pPr>
            <a:r>
              <a:rPr lang="en-US" sz="2800" noProof="1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Related requirements</a:t>
            </a:r>
          </a:p>
          <a:p>
            <a:pPr lvl="1">
              <a:lnSpc>
                <a:spcPts val="3600"/>
              </a:lnSpc>
            </a:pPr>
            <a:r>
              <a:rPr lang="en-US" sz="2800" noProof="1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Depth</a:t>
            </a:r>
          </a:p>
          <a:p>
            <a:pPr lvl="1">
              <a:lnSpc>
                <a:spcPts val="3600"/>
              </a:lnSpc>
            </a:pPr>
            <a:r>
              <a:rPr lang="en-US" sz="2800" noProof="1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Test category</a:t>
            </a:r>
          </a:p>
          <a:p>
            <a:pPr lvl="1">
              <a:lnSpc>
                <a:spcPts val="3600"/>
              </a:lnSpc>
            </a:pPr>
            <a:r>
              <a:rPr lang="en-US" sz="2800" noProof="1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Author</a:t>
            </a:r>
          </a:p>
          <a:p>
            <a:pPr lvl="1">
              <a:lnSpc>
                <a:spcPts val="3600"/>
              </a:lnSpc>
            </a:pPr>
            <a:r>
              <a:rPr lang="en-US" sz="2800" noProof="1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Is automated</a:t>
            </a:r>
          </a:p>
          <a:p>
            <a:pPr lvl="1">
              <a:lnSpc>
                <a:spcPts val="3600"/>
              </a:lnSpc>
            </a:pPr>
            <a:r>
              <a:rPr lang="en-US" sz="2800" noProof="1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Pass/fail</a:t>
            </a:r>
          </a:p>
          <a:p>
            <a:pPr>
              <a:lnSpc>
                <a:spcPts val="3600"/>
              </a:lnSpc>
            </a:pPr>
            <a:endParaRPr lang="en-US" noProof="1">
              <a:sym typeface="Wingdings" pitchFamily="2" charset="2"/>
            </a:endParaRPr>
          </a:p>
          <a:p>
            <a:pPr>
              <a:lnSpc>
                <a:spcPts val="3600"/>
              </a:lnSpc>
            </a:pPr>
            <a:endParaRPr lang="en-US" noProof="1" smtClean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pic>
        <p:nvPicPr>
          <p:cNvPr id="1026" name="Picture 2" descr="https://www.joomla.org/images/feature-icons/Joomla-ContentManagement-Icon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5812" y="2057400"/>
            <a:ext cx="3524250" cy="3524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225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Test Case (3)</a:t>
            </a:r>
            <a:endParaRPr lang="bg-BG" dirty="0"/>
          </a:p>
        </p:txBody>
      </p:sp>
      <p:sp>
        <p:nvSpPr>
          <p:cNvPr id="460805" name="Rectangle 5"/>
          <p:cNvSpPr>
            <a:spLocks noGrp="1" noChangeArrowheads="1"/>
          </p:cNvSpPr>
          <p:nvPr>
            <p:ph idx="4294967295"/>
          </p:nvPr>
        </p:nvSpPr>
        <p:spPr>
          <a:xfrm>
            <a:off x="190413" y="1191467"/>
            <a:ext cx="11804822" cy="637333"/>
          </a:xfrm>
        </p:spPr>
        <p:txBody>
          <a:bodyPr>
            <a:normAutofit/>
          </a:bodyPr>
          <a:lstStyle/>
          <a:p>
            <a:pPr>
              <a:lnSpc>
                <a:spcPts val="3600"/>
              </a:lnSpc>
            </a:pPr>
            <a:r>
              <a:rPr lang="en-US" noProof="1" smtClean="0">
                <a:sym typeface="Wingdings" pitchFamily="2" charset="2"/>
              </a:rPr>
              <a:t>Example test case</a:t>
            </a:r>
            <a:endParaRPr lang="en-US" noProof="1">
              <a:sym typeface="Wingdings" pitchFamily="2" charset="2"/>
            </a:endParaRPr>
          </a:p>
          <a:p>
            <a:pPr>
              <a:lnSpc>
                <a:spcPts val="3600"/>
              </a:lnSpc>
            </a:pPr>
            <a:endParaRPr lang="en-US" noProof="1" smtClean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90765" y="2133600"/>
            <a:ext cx="7637247" cy="3139321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Step No: 1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Step description: Login to the app with user: “XXX” and password: “YYY”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Expected result: Home page is displayed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2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Step No: </a:t>
            </a:r>
            <a:r>
              <a:rPr lang="en-US" sz="22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2</a:t>
            </a:r>
            <a:endParaRPr lang="en-US" sz="22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Step description: </a:t>
            </a:r>
            <a:r>
              <a:rPr lang="en-US" sz="22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Click “Logout”</a:t>
            </a:r>
            <a:endParaRPr lang="en-US" sz="22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Expected result: </a:t>
            </a:r>
            <a:r>
              <a:rPr lang="en-US" sz="22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Login page </a:t>
            </a:r>
            <a:r>
              <a:rPr lang="en-US" sz="22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is displayed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2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653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Test Case (4)</a:t>
            </a:r>
            <a:endParaRPr lang="bg-BG" dirty="0"/>
          </a:p>
        </p:txBody>
      </p:sp>
      <p:sp>
        <p:nvSpPr>
          <p:cNvPr id="460805" name="Rectangle 5"/>
          <p:cNvSpPr>
            <a:spLocks noGrp="1" noChangeArrowheads="1"/>
          </p:cNvSpPr>
          <p:nvPr>
            <p:ph idx="4294967295"/>
          </p:nvPr>
        </p:nvSpPr>
        <p:spPr>
          <a:xfrm>
            <a:off x="190413" y="1191467"/>
            <a:ext cx="11804822" cy="4675933"/>
          </a:xfrm>
        </p:spPr>
        <p:txBody>
          <a:bodyPr>
            <a:normAutofit/>
          </a:bodyPr>
          <a:lstStyle/>
          <a:p>
            <a:pPr>
              <a:lnSpc>
                <a:spcPts val="3600"/>
              </a:lnSpc>
            </a:pPr>
            <a:r>
              <a:rPr lang="en-US" noProof="1" smtClean="0">
                <a:sym typeface="Wingdings" pitchFamily="2" charset="2"/>
              </a:rPr>
              <a:t>Test cases can be part of a Test suite</a:t>
            </a:r>
          </a:p>
          <a:p>
            <a:pPr>
              <a:lnSpc>
                <a:spcPts val="3600"/>
              </a:lnSpc>
            </a:pPr>
            <a:r>
              <a:rPr lang="en-US" noProof="1" smtClean="0">
                <a:sym typeface="Wingdings" pitchFamily="2" charset="2"/>
              </a:rPr>
              <a:t>Test suite is a group of similar Test cases</a:t>
            </a:r>
          </a:p>
          <a:p>
            <a:pPr lvl="1">
              <a:lnSpc>
                <a:spcPts val="3600"/>
              </a:lnSpc>
            </a:pPr>
            <a:r>
              <a:rPr lang="en-US" sz="2800" noProof="1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Login functionality test cases leads to Login test suite</a:t>
            </a:r>
          </a:p>
          <a:p>
            <a:pPr>
              <a:lnSpc>
                <a:spcPts val="3600"/>
              </a:lnSpc>
            </a:pPr>
            <a:r>
              <a:rPr lang="en-US" noProof="1" smtClean="0">
                <a:sym typeface="Wingdings" pitchFamily="2" charset="2"/>
              </a:rPr>
              <a:t>Test suites can be</a:t>
            </a:r>
          </a:p>
          <a:p>
            <a:pPr lvl="1">
              <a:lnSpc>
                <a:spcPts val="3600"/>
              </a:lnSpc>
            </a:pPr>
            <a:r>
              <a:rPr lang="en-US" sz="2800" noProof="1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Abstract test suites</a:t>
            </a:r>
          </a:p>
          <a:p>
            <a:pPr lvl="1">
              <a:lnSpc>
                <a:spcPts val="3600"/>
              </a:lnSpc>
            </a:pPr>
            <a:r>
              <a:rPr lang="en-US" sz="2800" noProof="1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Executable test suites</a:t>
            </a:r>
          </a:p>
          <a:p>
            <a:pPr>
              <a:lnSpc>
                <a:spcPts val="3600"/>
              </a:lnSpc>
            </a:pPr>
            <a:endParaRPr lang="en-US" noProof="1" smtClean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pic>
        <p:nvPicPr>
          <p:cNvPr id="8194" name="Picture 2" descr="http://www.tutorialspoint.com/software_testing_dictionary/images/test_suit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0212" y="3048000"/>
            <a:ext cx="4267200" cy="317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4941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4956293"/>
            <a:ext cx="8938472" cy="774883"/>
          </a:xfrm>
        </p:spPr>
        <p:txBody>
          <a:bodyPr/>
          <a:lstStyle/>
          <a:p>
            <a:pPr>
              <a:lnSpc>
                <a:spcPts val="5400"/>
              </a:lnSpc>
            </a:pPr>
            <a:r>
              <a:rPr lang="en-US" dirty="0" smtClean="0"/>
              <a:t>Test </a:t>
            </a:r>
            <a:r>
              <a:rPr lang="en-US" dirty="0"/>
              <a:t>S</a:t>
            </a:r>
            <a:r>
              <a:rPr lang="en-US" dirty="0" smtClean="0"/>
              <a:t>cenario</a:t>
            </a:r>
            <a:endParaRPr lang="en-US" dirty="0"/>
          </a:p>
        </p:txBody>
      </p:sp>
      <p:pic>
        <p:nvPicPr>
          <p:cNvPr id="11266" name="Picture 2" descr="http://videoforme.ru/wp-content/uploads/2013/09/%D1%81%D1%86%D0%B5%D0%BD%D0%B0%D1%80%D0%B8%D0%B9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3212" y="1905000"/>
            <a:ext cx="3581400" cy="290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5100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Test Scenario</a:t>
            </a:r>
            <a:endParaRPr lang="bg-BG" dirty="0"/>
          </a:p>
        </p:txBody>
      </p:sp>
      <p:sp>
        <p:nvSpPr>
          <p:cNvPr id="460805" name="Rectangle 5"/>
          <p:cNvSpPr>
            <a:spLocks noGrp="1" noChangeArrowheads="1"/>
          </p:cNvSpPr>
          <p:nvPr>
            <p:ph idx="4294967295"/>
          </p:nvPr>
        </p:nvSpPr>
        <p:spPr>
          <a:xfrm>
            <a:off x="344967" y="3200400"/>
            <a:ext cx="11804822" cy="2847133"/>
          </a:xfrm>
        </p:spPr>
        <p:txBody>
          <a:bodyPr>
            <a:normAutofit/>
          </a:bodyPr>
          <a:lstStyle/>
          <a:p>
            <a:pPr>
              <a:lnSpc>
                <a:spcPts val="3600"/>
              </a:lnSpc>
            </a:pPr>
            <a:r>
              <a:rPr lang="en-US" noProof="1" smtClean="0">
                <a:sym typeface="Wingdings" pitchFamily="2" charset="2"/>
              </a:rPr>
              <a:t>Provides overview of</a:t>
            </a:r>
          </a:p>
          <a:p>
            <a:pPr lvl="1">
              <a:lnSpc>
                <a:spcPts val="3600"/>
              </a:lnSpc>
            </a:pPr>
            <a:r>
              <a:rPr lang="en-US" sz="2800" noProof="1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What to be tested</a:t>
            </a:r>
          </a:p>
          <a:p>
            <a:pPr lvl="1">
              <a:lnSpc>
                <a:spcPts val="3600"/>
              </a:lnSpc>
            </a:pPr>
            <a:r>
              <a:rPr lang="en-US" sz="2800" noProof="1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In which conditions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379412" y="1524000"/>
            <a:ext cx="8748598" cy="1107996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 scenario describes how a system is used in context of activity in a defined time-frame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2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12290" name="Picture 2" descr="https://encrypted-tbn1.gstatic.com/images?q=tbn:ANd9GcT7ckQ1eg3lthGTV5ZIaPSnd_5JIQQrOB0F8y997ORQmq1eyUz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9612" y="2895600"/>
            <a:ext cx="5410200" cy="3041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9589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Test Scenario (2)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379412" y="2667000"/>
            <a:ext cx="8748598" cy="2800767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u="sng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Test scenario</a:t>
            </a:r>
            <a:r>
              <a:rPr lang="en-US" sz="22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: Verify that device automatically connects to Wi-Fi if user creates new profile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2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u="sng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Test cases</a:t>
            </a:r>
            <a:r>
              <a:rPr lang="en-US" sz="22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: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</a:t>
            </a:r>
            <a:r>
              <a:rPr lang="en-US" sz="22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Test case 1: Create Wi-Fi profile and verify   			     that it created successfully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</a:t>
            </a:r>
            <a:r>
              <a:rPr lang="en-US" sz="22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Test case 2: Verify that device is able to 			     connect to Wi-Fi</a:t>
            </a:r>
            <a:endParaRPr lang="en-US" sz="22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idx="4294967295"/>
          </p:nvPr>
        </p:nvSpPr>
        <p:spPr>
          <a:xfrm>
            <a:off x="227012" y="1249611"/>
            <a:ext cx="11804822" cy="1036389"/>
          </a:xfrm>
        </p:spPr>
        <p:txBody>
          <a:bodyPr>
            <a:normAutofit/>
          </a:bodyPr>
          <a:lstStyle/>
          <a:p>
            <a:pPr>
              <a:lnSpc>
                <a:spcPts val="3600"/>
              </a:lnSpc>
            </a:pPr>
            <a:r>
              <a:rPr lang="en-US" noProof="1" smtClean="0">
                <a:sym typeface="Wingdings" pitchFamily="2" charset="2"/>
              </a:rPr>
              <a:t>Test cases vs. test scenarios</a:t>
            </a:r>
          </a:p>
        </p:txBody>
      </p:sp>
    </p:spTree>
    <p:extLst>
      <p:ext uri="{BB962C8B-B14F-4D97-AF65-F5344CB8AC3E}">
        <p14:creationId xmlns:p14="http://schemas.microsoft.com/office/powerpoint/2010/main" val="3770712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Test scenario (3)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989012" y="2057400"/>
            <a:ext cx="8748598" cy="769441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noProof="1">
                <a:solidFill>
                  <a:srgbClr val="FBEEDC"/>
                </a:solidFill>
                <a:latin typeface="Consolas" pitchFamily="49" charset="0"/>
                <a:cs typeface="Consolas" pitchFamily="49" charset="0"/>
              </a:rPr>
              <a:t>User should have an option to get his username/password back in case he has forgotten the same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idx="4294967295"/>
          </p:nvPr>
        </p:nvSpPr>
        <p:spPr>
          <a:xfrm>
            <a:off x="227012" y="1249611"/>
            <a:ext cx="11804822" cy="1036389"/>
          </a:xfrm>
        </p:spPr>
        <p:txBody>
          <a:bodyPr>
            <a:normAutofit/>
          </a:bodyPr>
          <a:lstStyle/>
          <a:p>
            <a:pPr>
              <a:lnSpc>
                <a:spcPts val="3600"/>
              </a:lnSpc>
            </a:pPr>
            <a:r>
              <a:rPr lang="en-US" noProof="1" smtClean="0">
                <a:sym typeface="Wingdings" pitchFamily="2" charset="2"/>
              </a:rPr>
              <a:t>Test scenario examples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979035" y="3505200"/>
            <a:ext cx="8748598" cy="769441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noProof="1" smtClean="0">
                <a:solidFill>
                  <a:srgbClr val="FBEEDC"/>
                </a:solidFill>
                <a:latin typeface="Consolas" pitchFamily="49" charset="0"/>
                <a:cs typeface="Consolas" pitchFamily="49" charset="0"/>
              </a:rPr>
              <a:t>User should have an option to sell items in any currency one wants to</a:t>
            </a:r>
            <a:endParaRPr lang="en-US" sz="2200" noProof="1">
              <a:solidFill>
                <a:srgbClr val="FBEEDC"/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545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4956293"/>
            <a:ext cx="8938472" cy="774883"/>
          </a:xfrm>
        </p:spPr>
        <p:txBody>
          <a:bodyPr/>
          <a:lstStyle/>
          <a:p>
            <a:pPr>
              <a:lnSpc>
                <a:spcPts val="5400"/>
              </a:lnSpc>
            </a:pPr>
            <a:r>
              <a:rPr lang="en-US" dirty="0" smtClean="0"/>
              <a:t>Test Execution</a:t>
            </a:r>
            <a:endParaRPr lang="en-US" dirty="0"/>
          </a:p>
        </p:txBody>
      </p:sp>
      <p:pic>
        <p:nvPicPr>
          <p:cNvPr id="13314" name="Picture 2" descr="http://www.proprofs.com/quiz-school/images/description/it_cert/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6412" y="2057400"/>
            <a:ext cx="5619750" cy="2762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6586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Test Execution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55612" y="1699943"/>
            <a:ext cx="8748598" cy="769441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noProof="1">
                <a:solidFill>
                  <a:srgbClr val="FBEEDC"/>
                </a:solidFill>
                <a:latin typeface="Consolas" pitchFamily="49" charset="0"/>
                <a:cs typeface="Consolas" pitchFamily="49" charset="0"/>
              </a:rPr>
              <a:t>Test execution is the process of executing the code and comparing the expected and actual results.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idx="4294967295"/>
          </p:nvPr>
        </p:nvSpPr>
        <p:spPr>
          <a:xfrm>
            <a:off x="303212" y="2971800"/>
            <a:ext cx="11804822" cy="2971800"/>
          </a:xfrm>
        </p:spPr>
        <p:txBody>
          <a:bodyPr>
            <a:normAutofit/>
          </a:bodyPr>
          <a:lstStyle/>
          <a:p>
            <a:pPr>
              <a:lnSpc>
                <a:spcPts val="3600"/>
              </a:lnSpc>
            </a:pPr>
            <a:r>
              <a:rPr lang="en-US" noProof="1" smtClean="0">
                <a:sym typeface="Wingdings" pitchFamily="2" charset="2"/>
              </a:rPr>
              <a:t>Test execution process factors</a:t>
            </a:r>
          </a:p>
          <a:p>
            <a:pPr lvl="1">
              <a:lnSpc>
                <a:spcPts val="3600"/>
              </a:lnSpc>
            </a:pPr>
            <a:r>
              <a:rPr lang="en-US" sz="2800" noProof="1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Test suites to be executed in that cycle</a:t>
            </a:r>
          </a:p>
          <a:p>
            <a:pPr lvl="1">
              <a:lnSpc>
                <a:spcPts val="3600"/>
              </a:lnSpc>
            </a:pPr>
            <a:r>
              <a:rPr lang="en-US" sz="2800" noProof="1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Assigning test cases to respective testers</a:t>
            </a:r>
          </a:p>
          <a:p>
            <a:pPr lvl="1">
              <a:lnSpc>
                <a:spcPts val="3600"/>
              </a:lnSpc>
            </a:pPr>
            <a:r>
              <a:rPr lang="en-US" sz="2800" noProof="1" smtClean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Resolve blocking issues as they arise</a:t>
            </a:r>
          </a:p>
        </p:txBody>
      </p:sp>
    </p:spTree>
    <p:extLst>
      <p:ext uri="{BB962C8B-B14F-4D97-AF65-F5344CB8AC3E}">
        <p14:creationId xmlns:p14="http://schemas.microsoft.com/office/powerpoint/2010/main" val="3235291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0412" y="1151121"/>
            <a:ext cx="11804821" cy="557035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dirty="0" smtClean="0"/>
              <a:t>The V-Model</a:t>
            </a:r>
          </a:p>
          <a:p>
            <a:pPr>
              <a:lnSpc>
                <a:spcPct val="100000"/>
              </a:lnSpc>
            </a:pPr>
            <a:r>
              <a:rPr lang="en-US" sz="3200" dirty="0" smtClean="0"/>
              <a:t>Test plan</a:t>
            </a:r>
          </a:p>
          <a:p>
            <a:pPr>
              <a:lnSpc>
                <a:spcPct val="100000"/>
              </a:lnSpc>
            </a:pPr>
            <a:r>
              <a:rPr lang="en-US" sz="3200" dirty="0" smtClean="0"/>
              <a:t>Writing test cases</a:t>
            </a:r>
          </a:p>
          <a:p>
            <a:pPr>
              <a:lnSpc>
                <a:spcPct val="100000"/>
              </a:lnSpc>
            </a:pPr>
            <a:r>
              <a:rPr lang="en-US" sz="3200" dirty="0" smtClean="0"/>
              <a:t>Bundling cases into a suite</a:t>
            </a:r>
          </a:p>
          <a:p>
            <a:pPr>
              <a:lnSpc>
                <a:spcPct val="100000"/>
              </a:lnSpc>
            </a:pPr>
            <a:r>
              <a:rPr lang="en-US" sz="3200" dirty="0" smtClean="0"/>
              <a:t>Test execution</a:t>
            </a:r>
            <a:endParaRPr lang="en-US" sz="30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pic>
        <p:nvPicPr>
          <p:cNvPr id="7" name="Picture 2" descr="C:\Users\Ivan\Desktop\elements_presentations\summary_pic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8412" y="1377953"/>
            <a:ext cx="3791856" cy="2813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7190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9535" y="5463746"/>
            <a:ext cx="1451877" cy="784654"/>
          </a:xfrm>
          <a:prstGeom prst="roundRect">
            <a:avLst>
              <a:gd name="adj" fmla="val 2953"/>
            </a:avLst>
          </a:prstGeom>
        </p:spPr>
      </p:pic>
      <p:pic>
        <p:nvPicPr>
          <p:cNvPr id="5" name="Picture 4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612" y="1295401"/>
            <a:ext cx="1752600" cy="804224"/>
          </a:xfrm>
          <a:prstGeom prst="roundRect">
            <a:avLst>
              <a:gd name="adj" fmla="val 3159"/>
            </a:avLst>
          </a:prstGeom>
        </p:spPr>
      </p:pic>
      <p:pic>
        <p:nvPicPr>
          <p:cNvPr id="7" name="Picture 6">
            <a:hlinkClick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39570" y="1295400"/>
            <a:ext cx="2040956" cy="804013"/>
          </a:xfrm>
          <a:prstGeom prst="roundRect">
            <a:avLst>
              <a:gd name="adj" fmla="val 3159"/>
            </a:avLst>
          </a:prstGeom>
        </p:spPr>
      </p:pic>
      <p:pic>
        <p:nvPicPr>
          <p:cNvPr id="8" name="Picture 7">
            <a:hlinkClick r:id="rId9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95852" y="1295400"/>
            <a:ext cx="2093874" cy="804013"/>
          </a:xfrm>
          <a:prstGeom prst="roundRect">
            <a:avLst>
              <a:gd name="adj" fmla="val 3159"/>
            </a:avLst>
          </a:prstGeom>
        </p:spPr>
      </p:pic>
      <p:pic>
        <p:nvPicPr>
          <p:cNvPr id="9" name="Picture 8">
            <a:hlinkClick r:id="rId11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5612" y="5475299"/>
            <a:ext cx="2950821" cy="747701"/>
          </a:xfrm>
          <a:prstGeom prst="roundRect">
            <a:avLst>
              <a:gd name="adj" fmla="val 3159"/>
            </a:avLst>
          </a:prstGeom>
        </p:spPr>
      </p:pic>
      <p:pic>
        <p:nvPicPr>
          <p:cNvPr id="10" name="Picture 9">
            <a:hlinkClick r:id="rId13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32212" y="5541096"/>
            <a:ext cx="3252400" cy="627432"/>
          </a:xfrm>
          <a:prstGeom prst="roundRect">
            <a:avLst>
              <a:gd name="adj" fmla="val 3159"/>
            </a:avLst>
          </a:prstGeom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Test </a:t>
            </a:r>
            <a:r>
              <a:rPr lang="en-US" dirty="0" smtClean="0"/>
              <a:t>Cases, Test Scenarios and Test Execution</a:t>
            </a:r>
            <a:endParaRPr lang="en-US" dirty="0"/>
          </a:p>
        </p:txBody>
      </p:sp>
      <p:pic>
        <p:nvPicPr>
          <p:cNvPr id="13" name="Picture 12">
            <a:hlinkClick r:id="rId15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59214" y="5461225"/>
            <a:ext cx="2551399" cy="787175"/>
          </a:xfrm>
          <a:prstGeom prst="roundRect">
            <a:avLst>
              <a:gd name="adj" fmla="val 2953"/>
            </a:avLst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hlinkClick r:id="rId17"/>
              </a:rPr>
              <a:t>http://softuni.org/courses</a:t>
            </a:r>
            <a:endParaRPr lang="en-US" dirty="0"/>
          </a:p>
        </p:txBody>
      </p:sp>
      <p:pic>
        <p:nvPicPr>
          <p:cNvPr id="18" name="Picture 17">
            <a:hlinkClick r:id="rId18"/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75612" y="1316222"/>
            <a:ext cx="3631158" cy="783191"/>
          </a:xfrm>
          <a:prstGeom prst="roundRect">
            <a:avLst>
              <a:gd name="adj" fmla="val 3159"/>
            </a:avLst>
          </a:prstGeom>
        </p:spPr>
      </p:pic>
      <p:pic>
        <p:nvPicPr>
          <p:cNvPr id="14" name="Picture 13">
            <a:hlinkClick r:id="rId3"/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980612" y="2729472"/>
            <a:ext cx="1726158" cy="932887"/>
          </a:xfrm>
          <a:prstGeom prst="roundRect">
            <a:avLst>
              <a:gd name="adj" fmla="val 2953"/>
            </a:avLst>
          </a:prstGeom>
        </p:spPr>
      </p:pic>
      <p:pic>
        <p:nvPicPr>
          <p:cNvPr id="15" name="Picture 14">
            <a:hlinkClick r:id="rId13"/>
          </p:cNvPr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5713413" y="4251041"/>
            <a:ext cx="5993358" cy="550371"/>
          </a:xfrm>
          <a:prstGeom prst="roundRect">
            <a:avLst>
              <a:gd name="adj" fmla="val 3159"/>
            </a:avLst>
          </a:prstGeom>
        </p:spPr>
      </p:pic>
    </p:spTree>
    <p:extLst>
      <p:ext uri="{BB962C8B-B14F-4D97-AF65-F5344CB8AC3E}">
        <p14:creationId xmlns:p14="http://schemas.microsoft.com/office/powerpoint/2010/main" val="3039675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License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90413" y="1151121"/>
            <a:ext cx="11804822" cy="1796243"/>
          </a:xfrm>
        </p:spPr>
        <p:txBody>
          <a:bodyPr>
            <a:normAutofit/>
          </a:bodyPr>
          <a:lstStyle/>
          <a:p>
            <a:r>
              <a:rPr lang="en-US" dirty="0"/>
              <a:t>This </a:t>
            </a:r>
            <a:r>
              <a:rPr lang="en-US" dirty="0" smtClean="0"/>
              <a:t>course (slides, examples, demos, videos, homework, etc.)</a:t>
            </a:r>
            <a:br>
              <a:rPr lang="en-US" dirty="0" smtClean="0"/>
            </a:br>
            <a:r>
              <a:rPr lang="en-US" dirty="0" smtClean="0"/>
              <a:t>is </a:t>
            </a:r>
            <a:r>
              <a:rPr lang="en-US" dirty="0"/>
              <a:t>licensed </a:t>
            </a:r>
            <a:r>
              <a:rPr lang="en-US" dirty="0" smtClean="0"/>
              <a:t>under </a:t>
            </a:r>
            <a:r>
              <a:rPr lang="en-US" dirty="0"/>
              <a:t>the "</a:t>
            </a:r>
            <a:r>
              <a:rPr lang="en-US" dirty="0">
                <a:hlinkClick r:id="rId3"/>
              </a:rPr>
              <a:t>Creative Commons </a:t>
            </a:r>
            <a:r>
              <a:rPr lang="en-US" noProof="1" smtClean="0">
                <a:hlinkClick r:id="rId3"/>
              </a:rPr>
              <a:t>Attribution-NonCommercial-ShareAlike</a:t>
            </a:r>
            <a:r>
              <a:rPr lang="en-US" dirty="0" smtClean="0">
                <a:hlinkClick r:id="rId3"/>
              </a:rPr>
              <a:t> </a:t>
            </a:r>
            <a:r>
              <a:rPr lang="en-US" dirty="0">
                <a:hlinkClick r:id="rId3"/>
              </a:rPr>
              <a:t>4.0 International</a:t>
            </a:r>
            <a:r>
              <a:rPr lang="en-US" dirty="0"/>
              <a:t>" </a:t>
            </a:r>
            <a:r>
              <a:rPr lang="en-US" dirty="0" smtClean="0"/>
              <a:t>license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</p:spPr>
        <p:txBody>
          <a:bodyPr/>
          <a:lstStyle/>
          <a:p>
            <a:fld id="{C014DD1E-5D91-48A3-AD6D-45FBA980D106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8" name="Picture 4" title="CC-BY-NC-SA License">
            <a:hlinkClick r:id="rId3" tooltip="This work is licensed under the &quot;Creative Commons Attribution-NonCommercial-ShareAlike 4.0 International&quot; licens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07637" y="3281192"/>
            <a:ext cx="3170776" cy="1109380"/>
          </a:xfrm>
          <a:prstGeom prst="roundRect">
            <a:avLst>
              <a:gd name="adj" fmla="val 4326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/>
          <p:cNvSpPr>
            <a:spLocks noGrp="1"/>
          </p:cNvSpPr>
          <p:nvPr>
            <p:ph idx="4294967295"/>
          </p:nvPr>
        </p:nvSpPr>
        <p:spPr>
          <a:xfrm>
            <a:off x="188815" y="4724400"/>
            <a:ext cx="11804822" cy="1997079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 sz="2400" dirty="0" smtClean="0"/>
              <a:t>Attribution: this work may contain portions from</a:t>
            </a:r>
          </a:p>
          <a:p>
            <a:pPr lvl="1"/>
            <a:r>
              <a:rPr lang="en-US" sz="2000" dirty="0"/>
              <a:t>"</a:t>
            </a:r>
            <a:r>
              <a:rPr lang="en-US" sz="2000" dirty="0">
                <a:hlinkClick r:id="rId5"/>
              </a:rPr>
              <a:t>Fundamentals of Computer Programming with C#</a:t>
            </a:r>
            <a:r>
              <a:rPr lang="en-US" sz="2000" dirty="0"/>
              <a:t>" </a:t>
            </a:r>
            <a:r>
              <a:rPr lang="en-US" sz="2000" dirty="0" smtClean="0"/>
              <a:t>book by Svetlin Nakov &amp; Co. under </a:t>
            </a:r>
            <a:r>
              <a:rPr lang="en-US" sz="2000" dirty="0" smtClean="0">
                <a:hlinkClick r:id="rId6"/>
              </a:rPr>
              <a:t>CC-BY-SA</a:t>
            </a:r>
            <a:r>
              <a:rPr lang="en-US" sz="2000" dirty="0" smtClean="0"/>
              <a:t> license</a:t>
            </a:r>
          </a:p>
          <a:p>
            <a:pPr lvl="1"/>
            <a:r>
              <a:rPr lang="en-US" sz="2000" dirty="0" smtClean="0"/>
              <a:t>"</a:t>
            </a:r>
            <a:r>
              <a:rPr lang="en-US" sz="2000" dirty="0" smtClean="0">
                <a:hlinkClick r:id="rId7"/>
              </a:rPr>
              <a:t>C# Part I</a:t>
            </a:r>
            <a:r>
              <a:rPr lang="en-US" sz="2000" dirty="0" smtClean="0"/>
              <a:t>" course by </a:t>
            </a:r>
            <a:r>
              <a:rPr lang="en-US" sz="2000" noProof="1" smtClean="0"/>
              <a:t>Telerik Academy</a:t>
            </a:r>
            <a:r>
              <a:rPr lang="en-US" sz="2000" dirty="0" smtClean="0"/>
              <a:t> under </a:t>
            </a:r>
            <a:r>
              <a:rPr lang="en-US" sz="2000" dirty="0" smtClean="0">
                <a:hlinkClick r:id="rId8"/>
              </a:rPr>
              <a:t>CC-BY-NC-SA</a:t>
            </a:r>
            <a:r>
              <a:rPr lang="en-US" sz="2000" dirty="0" smtClean="0"/>
              <a:t> license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2647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259899" y="103056"/>
            <a:ext cx="9074150" cy="936625"/>
          </a:xfrm>
        </p:spPr>
        <p:txBody>
          <a:bodyPr>
            <a:normAutofit/>
          </a:bodyPr>
          <a:lstStyle/>
          <a:p>
            <a:r>
              <a:rPr lang="en-US" dirty="0"/>
              <a:t>Free Trainings @ Software University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259899" y="1039681"/>
            <a:ext cx="9434513" cy="563937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dirty="0" smtClean="0"/>
              <a:t>Software University Foundation – </a:t>
            </a:r>
            <a:r>
              <a:rPr lang="en-US" sz="3200" noProof="1" smtClean="0">
                <a:hlinkClick r:id="rId3"/>
              </a:rPr>
              <a:t>softuni.org</a:t>
            </a:r>
            <a:endParaRPr lang="en-US" sz="3200" noProof="1" smtClean="0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– High-Quality Education, Profession and Job for Software Developers</a:t>
            </a:r>
          </a:p>
          <a:p>
            <a:pPr lvl="1">
              <a:lnSpc>
                <a:spcPct val="100000"/>
              </a:lnSpc>
            </a:pPr>
            <a:r>
              <a:rPr lang="en-US" sz="2900" noProof="1">
                <a:hlinkClick r:id="rId4"/>
              </a:rPr>
              <a:t>softuni.bg</a:t>
            </a:r>
            <a:r>
              <a:rPr lang="en-US" sz="2900" noProof="1"/>
              <a:t> </a:t>
            </a:r>
          </a:p>
          <a:p>
            <a:pPr marL="304747" lvl="1" indent="-304747">
              <a:lnSpc>
                <a:spcPct val="100000"/>
              </a:lnSpc>
              <a:buClr>
                <a:srgbClr val="F2B254"/>
              </a:buClr>
              <a:buSzPct val="100000"/>
              <a:tabLst>
                <a:tab pos="282575" algn="l"/>
              </a:tabLst>
            </a:pPr>
            <a:r>
              <a:rPr lang="en-US" dirty="0" smtClean="0"/>
              <a:t>Software University </a:t>
            </a:r>
            <a:r>
              <a:rPr lang="en-US" dirty="0"/>
              <a:t>@ </a:t>
            </a:r>
            <a:r>
              <a:rPr lang="en-US" dirty="0" smtClean="0"/>
              <a:t>Facebook</a:t>
            </a:r>
          </a:p>
          <a:p>
            <a:pPr lvl="1">
              <a:lnSpc>
                <a:spcPct val="100000"/>
              </a:lnSpc>
              <a:tabLst>
                <a:tab pos="282575" algn="l"/>
              </a:tabLst>
            </a:pPr>
            <a:r>
              <a:rPr lang="en-US" sz="2900" noProof="1">
                <a:hlinkClick r:id="rId5"/>
              </a:rPr>
              <a:t>facebook.com/SoftwareUniversity</a:t>
            </a:r>
            <a:endParaRPr lang="en-US" sz="2900" noProof="1"/>
          </a:p>
          <a:p>
            <a:pPr marL="304747" lvl="1" indent="-304747">
              <a:lnSpc>
                <a:spcPct val="100000"/>
              </a:lnSpc>
              <a:buClr>
                <a:srgbClr val="F2B254"/>
              </a:buClr>
              <a:buSzPct val="100000"/>
              <a:tabLst>
                <a:tab pos="282575" algn="l"/>
              </a:tabLst>
            </a:pPr>
            <a:r>
              <a:rPr lang="en-US" dirty="0" smtClean="0"/>
              <a:t>Software </a:t>
            </a:r>
            <a:r>
              <a:rPr lang="en-US" dirty="0"/>
              <a:t>University @ </a:t>
            </a:r>
            <a:r>
              <a:rPr lang="en-US" dirty="0" smtClean="0"/>
              <a:t>YouTube</a:t>
            </a:r>
          </a:p>
          <a:p>
            <a:pPr lvl="1">
              <a:lnSpc>
                <a:spcPct val="100000"/>
              </a:lnSpc>
              <a:tabLst>
                <a:tab pos="282575" algn="l"/>
              </a:tabLst>
            </a:pPr>
            <a:r>
              <a:rPr lang="en-US" sz="2900" noProof="1">
                <a:hlinkClick r:id="rId6"/>
              </a:rPr>
              <a:t>youtube.com/SoftwareUniversity</a:t>
            </a:r>
            <a:endParaRPr lang="en-US" sz="2900" noProof="1"/>
          </a:p>
          <a:p>
            <a:pPr marL="304747" lvl="1" indent="-304747">
              <a:lnSpc>
                <a:spcPct val="100000"/>
              </a:lnSpc>
              <a:buClr>
                <a:srgbClr val="F2B254"/>
              </a:buClr>
              <a:buSzPct val="100000"/>
              <a:tabLst>
                <a:tab pos="282575" algn="l"/>
              </a:tabLst>
            </a:pPr>
            <a:r>
              <a:rPr lang="en-US" noProof="1" smtClean="0"/>
              <a:t>Software University Forums – </a:t>
            </a:r>
            <a:r>
              <a:rPr lang="en-US" dirty="0">
                <a:hlinkClick r:id="rId7"/>
              </a:rPr>
              <a:t>forum.softuni.bg</a:t>
            </a:r>
            <a:endParaRPr lang="en-US" noProof="1"/>
          </a:p>
        </p:txBody>
      </p:sp>
      <p:pic>
        <p:nvPicPr>
          <p:cNvPr id="9" name="Picture 8" descr="http://softuni.bg" title="Software University">
            <a:hlinkClick r:id="rId4" tooltip="Software University"/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6400" y="1594686"/>
            <a:ext cx="1701050" cy="1570200"/>
          </a:xfrm>
          <a:prstGeom prst="rect">
            <a:avLst/>
          </a:prstGeom>
          <a:ln w="12700">
            <a:solidFill>
              <a:srgbClr val="55438F">
                <a:alpha val="70000"/>
              </a:srgbClr>
            </a:solidFill>
          </a:ln>
        </p:spPr>
      </p:pic>
      <p:pic>
        <p:nvPicPr>
          <p:cNvPr id="10" name="Picture 9" descr="http://softuni.org" title="Software University Foundation">
            <a:hlinkClick r:id="rId3" tooltip="Software University Foundation"/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359" t="-15226" r="-5359" b="-15226"/>
          <a:stretch/>
        </p:blipFill>
        <p:spPr>
          <a:xfrm>
            <a:off x="9457098" y="466964"/>
            <a:ext cx="2269870" cy="874916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solidFill>
              <a:schemeClr val="accent1">
                <a:lumMod val="75000"/>
                <a:alpha val="40000"/>
              </a:schemeClr>
            </a:solidFill>
          </a:ln>
        </p:spPr>
      </p:pic>
      <p:pic>
        <p:nvPicPr>
          <p:cNvPr id="11" name="Picture 4" descr="http://www.facebook.com/SoftwareUniversity" title="Software University @ Facebook">
            <a:hlinkClick r:id="rId10" tooltip="Software University @ Facebook"/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075536" y="3385124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http://www.youtube.com/SoftwareUniversity" title="Software University Videos @ YouTube">
            <a:hlinkClick r:id="rId6" tooltip="Software University YouTube Video Channel"/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56544" y="4589658"/>
            <a:ext cx="1837868" cy="675261"/>
          </a:xfrm>
          <a:prstGeom prst="rect">
            <a:avLst/>
          </a:prstGeom>
          <a:ln w="25400">
            <a:solidFill>
              <a:schemeClr val="bg1">
                <a:lumMod val="50000"/>
                <a:lumOff val="50000"/>
                <a:alpha val="2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http://forum.softuni.bg" title="Software University - Forum">
            <a:hlinkClick r:id="rId7" tooltip="Software University Discussion Forum"/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09334" y="5540172"/>
            <a:ext cx="970156" cy="965726"/>
          </a:xfrm>
          <a:prstGeom prst="rect">
            <a:avLst/>
          </a:prstGeom>
        </p:spPr>
      </p:pic>
      <p:pic>
        <p:nvPicPr>
          <p:cNvPr id="5" name="Picture 4">
            <a:hlinkClick r:id="rId4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62304" y="3093954"/>
            <a:ext cx="2286198" cy="249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241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oftUni 16x9">
  <a:themeElements>
    <a:clrScheme name="SoftUni Color Them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F6C781"/>
      </a:hlink>
      <a:folHlink>
        <a:srgbClr val="F2AC44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Software-University-Foundation</Template>
  <TotalTime>0</TotalTime>
  <Words>968</Words>
  <Application>Microsoft Office PowerPoint</Application>
  <PresentationFormat>Custom</PresentationFormat>
  <Paragraphs>194</Paragraphs>
  <Slides>22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SoftUni 16x9</vt:lpstr>
      <vt:lpstr>Test Cases, Test Scenarios and Test Execution</vt:lpstr>
      <vt:lpstr>Table of Contents</vt:lpstr>
      <vt:lpstr>Test Plan</vt:lpstr>
      <vt:lpstr>PowerPoint Presentation</vt:lpstr>
      <vt:lpstr>Test Plan</vt:lpstr>
      <vt:lpstr>Test Plan (2)</vt:lpstr>
      <vt:lpstr>Test Plan (3)</vt:lpstr>
      <vt:lpstr>Test Case</vt:lpstr>
      <vt:lpstr>Test Case</vt:lpstr>
      <vt:lpstr>Test Case (2)</vt:lpstr>
      <vt:lpstr>Test Case (3)</vt:lpstr>
      <vt:lpstr>Test Case (4)</vt:lpstr>
      <vt:lpstr>Test Scenario</vt:lpstr>
      <vt:lpstr>Test Scenario</vt:lpstr>
      <vt:lpstr>Test Scenario (2)</vt:lpstr>
      <vt:lpstr>Test scenario (3)</vt:lpstr>
      <vt:lpstr>Test Execution</vt:lpstr>
      <vt:lpstr>Test Execution</vt:lpstr>
      <vt:lpstr>Summary</vt:lpstr>
      <vt:lpstr>Test Cases, Test Scenarios and Test Execution</vt:lpstr>
      <vt:lpstr>License</vt:lpstr>
      <vt:lpstr>Free Trainings @ Software University</vt:lpstr>
    </vt:vector>
  </TitlesOfParts>
  <Manager/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cases and scenarios</dc:title>
  <dc:subject>Software Development Course</dc:subject>
  <dc:creator/>
  <cp:keywords>SoftUni, Software University, programming, software development, software engineering, course</cp:keywords>
  <dc:description>Software University Foundation - http://softuni.org</dc:description>
  <cp:lastModifiedBy/>
  <cp:revision>1</cp:revision>
  <dcterms:created xsi:type="dcterms:W3CDTF">2014-01-02T17:00:34Z</dcterms:created>
  <dcterms:modified xsi:type="dcterms:W3CDTF">2016-03-24T10:54:31Z</dcterms:modified>
  <cp:category>programming; computer programming; software development</cp:category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TC027879909991</vt:lpwstr>
  </property>
</Properties>
</file>