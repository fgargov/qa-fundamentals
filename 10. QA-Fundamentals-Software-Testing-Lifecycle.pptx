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16"/>
  </p:notesMasterIdLst>
  <p:handoutMasterIdLst>
    <p:handoutMasterId r:id="rId17"/>
  </p:handoutMasterIdLst>
  <p:sldIdLst>
    <p:sldId id="274" r:id="rId3"/>
    <p:sldId id="276" r:id="rId4"/>
    <p:sldId id="353" r:id="rId5"/>
    <p:sldId id="389" r:id="rId6"/>
    <p:sldId id="412" r:id="rId7"/>
    <p:sldId id="413" r:id="rId8"/>
    <p:sldId id="394" r:id="rId9"/>
    <p:sldId id="395" r:id="rId10"/>
    <p:sldId id="414" r:id="rId11"/>
    <p:sldId id="415" r:id="rId12"/>
    <p:sldId id="416" r:id="rId13"/>
    <p:sldId id="352" r:id="rId14"/>
    <p:sldId id="393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D9"/>
    <a:srgbClr val="FFA72A"/>
    <a:srgbClr val="F0F5FA"/>
    <a:srgbClr val="1A8AFA"/>
    <a:srgbClr val="0097CC"/>
    <a:srgbClr val="FDFFFF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68" autoAdjust="0"/>
    <p:restoredTop sz="94533" autoAdjust="0"/>
  </p:normalViewPr>
  <p:slideViewPr>
    <p:cSldViewPr>
      <p:cViewPr>
        <p:scale>
          <a:sx n="76" d="100"/>
          <a:sy n="76" d="100"/>
        </p:scale>
        <p:origin x="-276" y="-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3/24/2016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77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12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6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813" y="4953000"/>
            <a:ext cx="10363200" cy="820600"/>
          </a:xfrm>
        </p:spPr>
        <p:txBody>
          <a:bodyPr wrap="square"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813" y="5754968"/>
            <a:ext cx="10363200" cy="719034"/>
          </a:xfrm>
        </p:spPr>
        <p:txBody>
          <a:bodyPr wrap="square"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603A14"/>
                </a:solidFill>
              </a:rPr>
              <a:t>?</a:t>
            </a:r>
            <a:endParaRPr lang="en-US" sz="2400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6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87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72" r:id="rId5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softun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creativecommons.org/licenses/by-nc-sa/4.0/" TargetMode="Externa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://www.superhosting.bg/" TargetMode="External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://www.luxoft.com/" TargetMode="External"/><Relationship Id="rId7" Type="http://schemas.openxmlformats.org/officeDocument/2006/relationships/hyperlink" Target="http://komfo.com/" TargetMode="External"/><Relationship Id="rId12" Type="http://schemas.openxmlformats.org/officeDocument/2006/relationships/image" Target="../media/image24.png"/><Relationship Id="rId17" Type="http://schemas.openxmlformats.org/officeDocument/2006/relationships/hyperlink" Target="http://softuni.org/courses" TargetMode="Externa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hyperlink" Target="http://www.softwaregroup-bg.com/" TargetMode="External"/><Relationship Id="rId5" Type="http://schemas.openxmlformats.org/officeDocument/2006/relationships/hyperlink" Target="http://xs-software.com/" TargetMode="External"/><Relationship Id="rId15" Type="http://schemas.openxmlformats.org/officeDocument/2006/relationships/hyperlink" Target="http://www.indeavr.com/" TargetMode="External"/><Relationship Id="rId10" Type="http://schemas.openxmlformats.org/officeDocument/2006/relationships/image" Target="../media/image23.png"/><Relationship Id="rId19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hyperlink" Target="http://smartit.bg/" TargetMode="External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creativecommons.org/licenses/by-nc-sa/3.0/deed.en_US" TargetMode="External"/><Relationship Id="rId3" Type="http://schemas.openxmlformats.org/officeDocument/2006/relationships/hyperlink" Target="http://creativecommons.org/licenses/by-nc-sa/4.0/" TargetMode="External"/><Relationship Id="rId7" Type="http://schemas.openxmlformats.org/officeDocument/2006/relationships/hyperlink" Target="https://telerikacademy.com/Courses/Courses/Details/8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sa/4.0/" TargetMode="External"/><Relationship Id="rId5" Type="http://schemas.openxmlformats.org/officeDocument/2006/relationships/hyperlink" Target="http://www.introprogramming.info/english-intro-csharp-book/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30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hyperlink" Target="http://www.facebook.com/SoftwareUniversity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79812" y="457200"/>
            <a:ext cx="7910299" cy="1476352"/>
          </a:xfrm>
        </p:spPr>
        <p:txBody>
          <a:bodyPr>
            <a:normAutofit/>
          </a:bodyPr>
          <a:lstStyle/>
          <a:p>
            <a:r>
              <a:rPr lang="en-US" dirty="0" smtClean="0"/>
              <a:t>Software Testing Lifecycle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79812" y="1965299"/>
            <a:ext cx="7910299" cy="1311301"/>
          </a:xfrm>
        </p:spPr>
        <p:txBody>
          <a:bodyPr>
            <a:normAutofit/>
          </a:bodyPr>
          <a:lstStyle/>
          <a:p>
            <a:r>
              <a:rPr lang="en-US" dirty="0" smtClean="0"/>
              <a:t>Exit Criteria Evaluation, Continuous Integration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4212" y="4410539"/>
            <a:ext cx="3187613" cy="525135"/>
          </a:xfrm>
        </p:spPr>
        <p:txBody>
          <a:bodyPr/>
          <a:lstStyle/>
          <a:p>
            <a:r>
              <a:rPr lang="en-US" dirty="0" smtClean="0"/>
              <a:t>Ivan </a:t>
            </a:r>
            <a:r>
              <a:rPr lang="en-US" dirty="0" err="1" smtClean="0"/>
              <a:t>Yonkov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4213" y="4880438"/>
            <a:ext cx="3187614" cy="444343"/>
          </a:xfrm>
        </p:spPr>
        <p:txBody>
          <a:bodyPr/>
          <a:lstStyle/>
          <a:p>
            <a:r>
              <a:rPr lang="en-US" dirty="0" smtClean="0"/>
              <a:t>Training Lead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84212" y="5641061"/>
            <a:ext cx="3187613" cy="363552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dirty="0" smtClean="0"/>
              <a:t>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4212" y="5982223"/>
            <a:ext cx="3187613" cy="331235"/>
          </a:xfrm>
        </p:spPr>
        <p:txBody>
          <a:bodyPr/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softuni.bg</a:t>
            </a:r>
            <a:endParaRPr lang="en-US" dirty="0"/>
          </a:p>
        </p:txBody>
      </p:sp>
      <p:pic>
        <p:nvPicPr>
          <p:cNvPr id="1028" name="Picture 4" title="CC-BY-NC-SA License">
            <a:hlinkClick r:id="rId4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783" y="3219091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3" name="Picture 12" descr="http://softuni.bg" title="SoftUni Code Wizar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79812" y="3968769"/>
            <a:ext cx="2133598" cy="2341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576164">
            <a:off x="4789590" y="3806198"/>
            <a:ext cx="2148858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QA</a:t>
            </a:r>
          </a:p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Fundamentals</a:t>
            </a:r>
          </a:p>
        </p:txBody>
      </p:sp>
      <p:pic>
        <p:nvPicPr>
          <p:cNvPr id="17" name="Picture 16" descr="http://softuni.org" title="Software University Foundation">
            <a:hlinkClick r:id="rId7" tooltip="Software University Foundation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745783" y="2057400"/>
            <a:ext cx="2175525" cy="83855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026" name="Picture 2" descr="http://www.tmplab.org/wp-content/uploads/2015/06/Continuous-Integration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012" y="4110329"/>
            <a:ext cx="38100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What is STLC?</a:t>
            </a:r>
            <a:endParaRPr lang="bg-BG" dirty="0" smtClean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Exit Evaluation </a:t>
            </a:r>
            <a:r>
              <a:rPr lang="en-US" dirty="0"/>
              <a:t>C</a:t>
            </a:r>
            <a:r>
              <a:rPr lang="en-US" dirty="0" smtClean="0"/>
              <a:t>riteria</a:t>
            </a:r>
            <a:endParaRPr lang="bg-BG" sz="2800" dirty="0" smtClean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Continuous integration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212" y="1638368"/>
            <a:ext cx="3429001" cy="4421449"/>
          </a:xfrm>
          <a:prstGeom prst="rect">
            <a:avLst/>
          </a:prstGeom>
        </p:spPr>
      </p:pic>
      <p:pic>
        <p:nvPicPr>
          <p:cNvPr id="2050" name="Picture 2" descr="http://redangurus.com/wp-content/uploads/2014/10/jenkins_modifi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12" y="3124200"/>
            <a:ext cx="572609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Testing Life Cycle</a:t>
            </a:r>
            <a:endParaRPr lang="en-US" dirty="0"/>
          </a:p>
        </p:txBody>
      </p:sp>
      <p:pic>
        <p:nvPicPr>
          <p:cNvPr id="3078" name="Picture 6" descr="http://image19.spreadshirtmedia.net/image-server/v1/products/124943596/views/3,width=378,height=378,appearanceId=2/Krebs-Cycle-Mugs---Drinkwa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808" y="609600"/>
            <a:ext cx="4800600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  <a:r>
              <a:rPr lang="en-US" dirty="0" smtClean="0"/>
              <a:t>STLC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4098" name="Picture 2" descr="http://cdn2.softwaretestinghelp.com/wp-content/qa/uploads/2014/04/STLC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2" y="1322952"/>
            <a:ext cx="9713393" cy="51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21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  <a:r>
              <a:rPr lang="en-US" dirty="0" smtClean="0"/>
              <a:t>STLC (2)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6146" name="Picture 2" descr="http://cdn2.softwaretestinghelp.com/wp-content/qa/uploads/2014/04/STLC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2" y="1219200"/>
            <a:ext cx="9525000" cy="536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62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  <a:r>
              <a:rPr lang="en-US" dirty="0" smtClean="0"/>
              <a:t>STLC (3)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5122" name="Picture 2" descr="http://cdn.softwaretestinghelp.com/wp-content/qa/uploads/2014/04/STLC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1219200"/>
            <a:ext cx="6954659" cy="543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62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  <a:r>
              <a:rPr lang="en-US" dirty="0" smtClean="0"/>
              <a:t>S</a:t>
            </a:r>
            <a:r>
              <a:rPr lang="en-US" dirty="0"/>
              <a:t>T</a:t>
            </a:r>
            <a:r>
              <a:rPr lang="en-US" dirty="0" smtClean="0"/>
              <a:t>LC (4)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227012" y="990600"/>
            <a:ext cx="11804822" cy="6111877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dirty="0" smtClean="0"/>
              <a:t>The phases of Software Testing Life Cycle</a:t>
            </a: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Requirement</a:t>
            </a: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Planning</a:t>
            </a: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Analysis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Design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Implementation</a:t>
            </a: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Execution</a:t>
            </a: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Conclusion</a:t>
            </a:r>
          </a:p>
          <a:p>
            <a:pPr marL="761946" lvl="1" indent="-457200">
              <a:lnSpc>
                <a:spcPts val="4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Closure</a:t>
            </a:r>
            <a:endParaRPr lang="bg-BG" sz="28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3600"/>
              </a:lnSpc>
            </a:pPr>
            <a:endParaRPr lang="en-US" dirty="0" smtClean="0"/>
          </a:p>
          <a:p>
            <a:pPr lvl="1">
              <a:lnSpc>
                <a:spcPts val="3600"/>
              </a:lnSpc>
            </a:pPr>
            <a:endParaRPr lang="en-US" dirty="0" smtClean="0"/>
          </a:p>
          <a:p>
            <a:pPr>
              <a:lnSpc>
                <a:spcPts val="3600"/>
              </a:lnSpc>
            </a:pP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4098" name="Picture 2" descr="http://www.lpod.org/wp-content/uploads/2007/02/Lunar_phas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2" y="2045918"/>
            <a:ext cx="699135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11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  <a:r>
              <a:rPr lang="en-US" dirty="0" smtClean="0"/>
              <a:t>S</a:t>
            </a:r>
            <a:r>
              <a:rPr lang="en-US" dirty="0"/>
              <a:t>T</a:t>
            </a:r>
            <a:r>
              <a:rPr lang="en-US" dirty="0" smtClean="0"/>
              <a:t>LC (5)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50812" y="762000"/>
            <a:ext cx="11804822" cy="5530010"/>
          </a:xfrm>
        </p:spPr>
        <p:txBody>
          <a:bodyPr>
            <a:normAutofit/>
          </a:bodyPr>
          <a:lstStyle/>
          <a:p>
            <a:pPr lvl="1">
              <a:lnSpc>
                <a:spcPts val="3600"/>
              </a:lnSpc>
            </a:pPr>
            <a:endParaRPr lang="en-US" dirty="0" smtClean="0"/>
          </a:p>
          <a:p>
            <a:pPr>
              <a:lnSpc>
                <a:spcPts val="36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Conclusion phase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Includes the reporting stage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Depends on whom you are reporting, different kind of reports are provided</a:t>
            </a:r>
          </a:p>
          <a:p>
            <a:pPr>
              <a:lnSpc>
                <a:spcPts val="36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Closure phase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Check for completion of the test. 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Do lesson learnt meeting and 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0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Continuous Integration</a:t>
            </a:r>
            <a:endParaRPr lang="en-US" dirty="0"/>
          </a:p>
        </p:txBody>
      </p:sp>
      <p:pic>
        <p:nvPicPr>
          <p:cNvPr id="7170" name="Picture 2" descr="http://dmytry.com/games/art_gallery/infinity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2" y="1828800"/>
            <a:ext cx="5029200" cy="314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99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Continuous Integration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50812" y="762000"/>
            <a:ext cx="11804822" cy="5530010"/>
          </a:xfrm>
        </p:spPr>
        <p:txBody>
          <a:bodyPr>
            <a:normAutofit/>
          </a:bodyPr>
          <a:lstStyle/>
          <a:p>
            <a:pPr lvl="1">
              <a:lnSpc>
                <a:spcPts val="3600"/>
              </a:lnSpc>
            </a:pPr>
            <a:endParaRPr lang="en-US" dirty="0" smtClean="0"/>
          </a:p>
          <a:p>
            <a:pPr>
              <a:lnSpc>
                <a:spcPts val="36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 practice of merging all developers’ working copies with a shared mainline</a:t>
            </a:r>
          </a:p>
          <a:p>
            <a:pPr>
              <a:lnSpc>
                <a:spcPts val="36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Its due for about 25 years and evolved to an automated process ensuring the “clean build” concept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Commit triggers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Unit tests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Integration tests</a:t>
            </a:r>
          </a:p>
          <a:p>
            <a:pPr lvl="1">
              <a:lnSpc>
                <a:spcPts val="36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Building the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9218" name="Picture 2" descr="http://www.qubiz.com/wp-content/uploads/2014/09/continuou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2" y="3429000"/>
            <a:ext cx="52799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56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35" y="5463746"/>
            <a:ext cx="1451877" cy="784654"/>
          </a:xfrm>
          <a:prstGeom prst="roundRect">
            <a:avLst>
              <a:gd name="adj" fmla="val 2953"/>
            </a:avLst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12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7" name="Picture 6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9570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8" name="Picture 7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5852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9" name="Picture 8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612" y="5475299"/>
            <a:ext cx="2950821" cy="747701"/>
          </a:xfrm>
          <a:prstGeom prst="roundRect">
            <a:avLst>
              <a:gd name="adj" fmla="val 3159"/>
            </a:avLst>
          </a:prstGeom>
        </p:spPr>
      </p:pic>
      <p:pic>
        <p:nvPicPr>
          <p:cNvPr id="10" name="Picture 9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2212" y="5541096"/>
            <a:ext cx="3252400" cy="627432"/>
          </a:xfrm>
          <a:prstGeom prst="roundRect">
            <a:avLst>
              <a:gd name="adj" fmla="val 3159"/>
            </a:avLst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dirty="0" smtClean="0"/>
              <a:t>Testing Lifecycle</a:t>
            </a:r>
            <a:endParaRPr lang="en-US" dirty="0"/>
          </a:p>
        </p:txBody>
      </p:sp>
      <p:pic>
        <p:nvPicPr>
          <p:cNvPr id="13" name="Picture 12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9214" y="5461225"/>
            <a:ext cx="2551399" cy="787175"/>
          </a:xfrm>
          <a:prstGeom prst="roundRect">
            <a:avLst>
              <a:gd name="adj" fmla="val 2953"/>
            </a:avLst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17"/>
              </a:rPr>
              <a:t>http://softuni.org/courses</a:t>
            </a:r>
            <a:endParaRPr lang="en-US" dirty="0"/>
          </a:p>
        </p:txBody>
      </p:sp>
      <p:pic>
        <p:nvPicPr>
          <p:cNvPr id="18" name="Picture 17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14" name="Picture 13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13"/>
          </p:cNvPr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:p14="http://schemas.microsoft.com/office/powerpoint/2010/main" val="267165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413" y="1151121"/>
            <a:ext cx="11804822" cy="179624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dirty="0" smtClean="0"/>
              <a:t>course (slides, examples, demos, videos, homework, etc.)</a:t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licensed </a:t>
            </a:r>
            <a:r>
              <a:rPr lang="en-US" dirty="0" smtClean="0"/>
              <a:t>under </a:t>
            </a:r>
            <a:r>
              <a:rPr lang="en-US" dirty="0"/>
              <a:t>the 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 smtClean="0">
                <a:hlinkClick r:id="rId3"/>
              </a:rPr>
              <a:t>Attribution-NonCommercial-ShareAlike</a:t>
            </a:r>
            <a:r>
              <a:rPr lang="en-US" dirty="0" smtClean="0">
                <a:hlinkClick r:id="rId3"/>
              </a:rPr>
              <a:t> </a:t>
            </a:r>
            <a:r>
              <a:rPr lang="en-US" dirty="0">
                <a:hlinkClick r:id="rId3"/>
              </a:rPr>
              <a:t>4.0 International</a:t>
            </a:r>
            <a:r>
              <a:rPr lang="en-US" dirty="0"/>
              <a:t>" </a:t>
            </a:r>
            <a:r>
              <a:rPr lang="en-US" dirty="0" smtClean="0"/>
              <a:t>license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4" title="CC-BY-NC-SA License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7637" y="328119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188815" y="4724400"/>
            <a:ext cx="11804822" cy="199707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 smtClean="0"/>
              <a:t>Attribution: this work may contain portions from</a:t>
            </a:r>
          </a:p>
          <a:p>
            <a:pPr lvl="1"/>
            <a:r>
              <a:rPr lang="en-US" sz="2000" dirty="0"/>
              <a:t>"</a:t>
            </a:r>
            <a:r>
              <a:rPr lang="en-US" sz="2000" dirty="0">
                <a:hlinkClick r:id="rId5"/>
              </a:rPr>
              <a:t>Fundamentals of Computer Programming with C#</a:t>
            </a:r>
            <a:r>
              <a:rPr lang="en-US" sz="2000" dirty="0"/>
              <a:t>" </a:t>
            </a:r>
            <a:r>
              <a:rPr lang="en-US" sz="2000" dirty="0" smtClean="0"/>
              <a:t>book by Svetlin Nakov &amp; Co. under </a:t>
            </a:r>
            <a:r>
              <a:rPr lang="en-US" sz="2000" dirty="0" smtClean="0">
                <a:hlinkClick r:id="rId6"/>
              </a:rPr>
              <a:t>CC-BY-SA</a:t>
            </a:r>
            <a:r>
              <a:rPr lang="en-US" sz="2000" dirty="0" smtClean="0"/>
              <a:t> license</a:t>
            </a:r>
          </a:p>
          <a:p>
            <a:pPr lvl="1"/>
            <a:r>
              <a:rPr lang="en-US" sz="2000" dirty="0" smtClean="0"/>
              <a:t>"</a:t>
            </a:r>
            <a:r>
              <a:rPr lang="en-US" sz="2000" dirty="0" smtClean="0">
                <a:hlinkClick r:id="rId7"/>
              </a:rPr>
              <a:t>C# Part I</a:t>
            </a:r>
            <a:r>
              <a:rPr lang="en-US" sz="2000" dirty="0" smtClean="0"/>
              <a:t>" course by </a:t>
            </a:r>
            <a:r>
              <a:rPr lang="en-US" sz="2000" noProof="1" smtClean="0"/>
              <a:t>Telerik Academy</a:t>
            </a:r>
            <a:r>
              <a:rPr lang="en-US" sz="2000" dirty="0" smtClean="0"/>
              <a:t> under </a:t>
            </a:r>
            <a:r>
              <a:rPr lang="en-US" sz="2000" dirty="0" smtClean="0">
                <a:hlinkClick r:id="rId8"/>
              </a:rPr>
              <a:t>CC-BY-NC-SA</a:t>
            </a:r>
            <a:r>
              <a:rPr lang="en-US" sz="2000" dirty="0" smtClean="0"/>
              <a:t> license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64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59899" y="103056"/>
            <a:ext cx="9074150" cy="936625"/>
          </a:xfrm>
        </p:spPr>
        <p:txBody>
          <a:bodyPr>
            <a:normAutofit/>
          </a:bodyPr>
          <a:lstStyle/>
          <a:p>
            <a:r>
              <a:rPr lang="en-US" dirty="0"/>
              <a:t>Free Trainings @ Software University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59899" y="1039681"/>
            <a:ext cx="9434513" cy="56393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Software University Foundation 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University </a:t>
            </a:r>
            <a:r>
              <a:rPr lang="en-US" dirty="0"/>
              <a:t>@ </a:t>
            </a:r>
            <a:r>
              <a:rPr lang="en-US" dirty="0" smtClean="0"/>
              <a:t>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</a:t>
            </a:r>
            <a:r>
              <a:rPr lang="en-US" dirty="0"/>
              <a:t>University @ </a:t>
            </a:r>
            <a:r>
              <a:rPr lang="en-US" dirty="0" smtClean="0"/>
              <a:t>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noProof="1" smtClean="0"/>
              <a:t>Software University Forums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9" name="Picture 8" descr="http://softuni.bg" title="Software University">
            <a:hlinkClick r:id="rId4" tooltip="Software University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400" y="1594686"/>
            <a:ext cx="1701050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10" name="Picture 9" descr="http://softuni.org" title="Software University Foundation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9457098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 descr="http://www.facebook.com/SoftwareUniversity" title="Software University @ Facebook">
            <a:hlinkClick r:id="rId10" tooltip="Software University @ Facebook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75536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://www.youtube.com/SoftwareUniversity" title="Software University Videos @ YouTube">
            <a:hlinkClick r:id="rId6" tooltip="Software University YouTube Video Channel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6544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ttp://forum.softuni.bg" title="Software University - Forum">
            <a:hlinkClick r:id="rId7" tooltip="Software University Discussion Forum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9334" y="5540172"/>
            <a:ext cx="970156" cy="965726"/>
          </a:xfrm>
          <a:prstGeom prst="rect">
            <a:avLst/>
          </a:prstGeom>
        </p:spPr>
      </p:pic>
      <p:pic>
        <p:nvPicPr>
          <p:cNvPr id="5" name="Picture 4">
            <a:hlinkClick r:id="rId4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304" y="3093954"/>
            <a:ext cx="2286198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4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519</Words>
  <Application>Microsoft Office PowerPoint</Application>
  <PresentationFormat>Custom</PresentationFormat>
  <Paragraphs>107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SoftUni 16x9</vt:lpstr>
      <vt:lpstr>Software Testing Lifecycle</vt:lpstr>
      <vt:lpstr>Table of Contents</vt:lpstr>
      <vt:lpstr>Testing Life Cycle</vt:lpstr>
      <vt:lpstr>Introduction STLC</vt:lpstr>
      <vt:lpstr>Introduction STLC (2)</vt:lpstr>
      <vt:lpstr>Introduction STLC (3)</vt:lpstr>
      <vt:lpstr>Introduction STLC (4)</vt:lpstr>
      <vt:lpstr>Introduction STLC (5)</vt:lpstr>
      <vt:lpstr>Continuous Integration</vt:lpstr>
      <vt:lpstr>Continuous Integration</vt:lpstr>
      <vt:lpstr>Software Testing Lifecycle</vt:lpstr>
      <vt:lpstr>License</vt:lpstr>
      <vt:lpstr>Free Trainings @ Software University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Lifecycle</dc:title>
  <dc:subject>Software Development Course</dc:subject>
  <dc:creator/>
  <cp:keywords>SoftUni, QA Fundamentals, Testing, Process, Lifecycle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2016-03-24T10:32:45Z</dcterms:modified>
  <cp:category>SoftUni, QA Fundamentals, Testing, Process, Lifecycle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