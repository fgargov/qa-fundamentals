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23"/>
  </p:notesMasterIdLst>
  <p:handoutMasterIdLst>
    <p:handoutMasterId r:id="rId24"/>
  </p:handoutMasterIdLst>
  <p:sldIdLst>
    <p:sldId id="274" r:id="rId3"/>
    <p:sldId id="428" r:id="rId4"/>
    <p:sldId id="478" r:id="rId5"/>
    <p:sldId id="479" r:id="rId6"/>
    <p:sldId id="517" r:id="rId7"/>
    <p:sldId id="518" r:id="rId8"/>
    <p:sldId id="519" r:id="rId9"/>
    <p:sldId id="520" r:id="rId10"/>
    <p:sldId id="521" r:id="rId11"/>
    <p:sldId id="522" r:id="rId12"/>
    <p:sldId id="523" r:id="rId13"/>
    <p:sldId id="524" r:id="rId14"/>
    <p:sldId id="525" r:id="rId15"/>
    <p:sldId id="527" r:id="rId16"/>
    <p:sldId id="528" r:id="rId17"/>
    <p:sldId id="529" r:id="rId18"/>
    <p:sldId id="516" r:id="rId19"/>
    <p:sldId id="530" r:id="rId20"/>
    <p:sldId id="419" r:id="rId21"/>
    <p:sldId id="420" r:id="rId2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EDC"/>
    <a:srgbClr val="F0A22E"/>
    <a:srgbClr val="603A14"/>
    <a:srgbClr val="E85C0E"/>
    <a:srgbClr val="BAB398"/>
    <a:srgbClr val="ADA485"/>
    <a:srgbClr val="C6C0AA"/>
    <a:srgbClr val="663606"/>
    <a:srgbClr val="663106"/>
    <a:srgbClr val="F8DC9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21" autoAdjust="0"/>
    <p:restoredTop sz="94533" autoAdjust="0"/>
  </p:normalViewPr>
  <p:slideViewPr>
    <p:cSldViewPr>
      <p:cViewPr varScale="1">
        <p:scale>
          <a:sx n="74" d="100"/>
          <a:sy n="74" d="100"/>
        </p:scale>
        <p:origin x="-360" y="-90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6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3/24/2016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 smtClean="0"/>
              <a:t>© Software University Foundation – </a:t>
            </a:r>
            <a:r>
              <a:rPr lang="en-US" sz="1000" u="sng" dirty="0" smtClean="0">
                <a:hlinkClick r:id="rId2"/>
              </a:rPr>
              <a:t>http://softuni.org</a:t>
            </a:r>
            <a:endParaRPr lang="en-US" sz="1000" dirty="0" smtClean="0"/>
          </a:p>
          <a:p>
            <a:r>
              <a:rPr lang="en-US" sz="1000" dirty="0" smtClean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51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2008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B06EDD-DA58-4CEC-8FAE-477FD9274FA7}" type="slidenum">
              <a:rPr lang="en-US"/>
              <a:pPr/>
              <a:t>3</a:t>
            </a:fld>
            <a:r>
              <a:rPr lang="en-US" dirty="0"/>
              <a:t>##</a:t>
            </a:r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93252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2008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B06EDD-DA58-4CEC-8FAE-477FD9274FA7}" type="slidenum">
              <a:rPr lang="en-US"/>
              <a:pPr/>
              <a:t>5</a:t>
            </a:fld>
            <a:r>
              <a:rPr lang="en-US" dirty="0"/>
              <a:t>##</a:t>
            </a:r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97902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2008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B06EDD-DA58-4CEC-8FAE-477FD9274FA7}" type="slidenum">
              <a:rPr lang="en-US"/>
              <a:pPr/>
              <a:t>9</a:t>
            </a:fld>
            <a:r>
              <a:rPr lang="en-US" dirty="0"/>
              <a:t>##</a:t>
            </a:r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61755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2008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B06EDD-DA58-4CEC-8FAE-477FD9274FA7}" type="slidenum">
              <a:rPr lang="en-US"/>
              <a:pPr/>
              <a:t>16</a:t>
            </a:fld>
            <a:r>
              <a:rPr lang="en-US" dirty="0"/>
              <a:t>##</a:t>
            </a:r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2147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277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94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553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judge.softuni.bg/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://forum.softuni.bg/" TargetMode="External"/><Relationship Id="rId12" Type="http://schemas.openxmlformats.org/officeDocument/2006/relationships/hyperlink" Target="http://www.introprogramming.info/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nakov.com/" TargetMode="External"/><Relationship Id="rId11" Type="http://schemas.openxmlformats.org/officeDocument/2006/relationships/hyperlink" Target="http://www.youtube.com/SoftwareUniversity" TargetMode="External"/><Relationship Id="rId5" Type="http://schemas.openxmlformats.org/officeDocument/2006/relationships/hyperlink" Target="http://softuni.org/" TargetMode="External"/><Relationship Id="rId10" Type="http://schemas.openxmlformats.org/officeDocument/2006/relationships/hyperlink" Target="https://twitter.com/softunibg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hyperlink" Target="https://www.facebook.com/SoftwareUniversity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Web Site</a:t>
            </a:r>
            <a:endParaRPr lang="en-US" dirty="0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Name</a:t>
            </a:r>
            <a:endParaRPr lang="en-US" dirty="0"/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Web 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3/24/2016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Slide Title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6212" y="4953000"/>
            <a:ext cx="8938472" cy="820600"/>
          </a:xfrm>
        </p:spPr>
        <p:txBody>
          <a:bodyPr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 smtClean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46212" y="5754968"/>
            <a:ext cx="8938472" cy="688256"/>
          </a:xfrm>
        </p:spPr>
        <p:txBody>
          <a:bodyPr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Section Subtitle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 rot="20967018">
            <a:off x="52437" y="3176455"/>
            <a:ext cx="7313295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0000" b="1" kern="1200" noProof="0" dirty="0" smtClean="0">
                <a:solidFill>
                  <a:srgbClr val="F3BE60"/>
                </a:solidFill>
                <a:latin typeface="+mj-lt"/>
                <a:ea typeface="+mj-ea"/>
                <a:cs typeface="+mj-cs"/>
              </a:rPr>
              <a:t>Questions?</a:t>
            </a:r>
            <a:endParaRPr lang="en-US" sz="100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 smtClean="0"/>
              <a:t>Course Web Site</a:t>
            </a:r>
            <a:endParaRPr lang="en-US" dirty="0"/>
          </a:p>
        </p:txBody>
      </p:sp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412" y="261000"/>
            <a:ext cx="2050131" cy="670675"/>
          </a:xfrm>
          <a:prstGeom prst="rect">
            <a:avLst/>
          </a:prstGeom>
        </p:spPr>
      </p:pic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2" name="TextBox 1">
            <a:hlinkClick r:id="rId4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27" name="TextBox 26">
            <a:hlinkClick r:id="rId5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51" name="TextBox 50">
            <a:hlinkClick r:id="rId6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2" name="TextBox 51">
            <a:hlinkClick r:id="rId7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3" name="TextBox 52">
            <a:hlinkClick r:id="rId8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solidFill>
                  <a:srgbClr val="603A14"/>
                </a:solidFill>
              </a:rPr>
              <a:t>?</a:t>
            </a:r>
            <a:endParaRPr lang="en-US" sz="1800" b="1" dirty="0">
              <a:solidFill>
                <a:srgbClr val="603A14"/>
              </a:solidFill>
            </a:endParaRPr>
          </a:p>
        </p:txBody>
      </p:sp>
      <p:sp>
        <p:nvSpPr>
          <p:cNvPr id="54" name="TextBox 53">
            <a:hlinkClick r:id="rId9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603A14"/>
                </a:solidFill>
              </a:rPr>
              <a:t>?</a:t>
            </a:r>
            <a:endParaRPr lang="en-US" sz="2400" b="1" dirty="0">
              <a:solidFill>
                <a:srgbClr val="603A14"/>
              </a:solidFill>
            </a:endParaRPr>
          </a:p>
        </p:txBody>
      </p:sp>
      <p:sp>
        <p:nvSpPr>
          <p:cNvPr id="56" name="TextBox 55">
            <a:hlinkClick r:id="rId10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7" name="TextBox 56">
            <a:hlinkClick r:id="rId11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8" name="TextBox 57">
            <a:hlinkClick r:id="rId12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82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3/24/2016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  <p:sldLayoutId id="2147483668" r:id="rId5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panose="05000000000000000000" pitchFamily="2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panose="05000000000000000000" pitchFamily="2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panose="05000000000000000000" pitchFamily="2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panose="05000000000000000000" pitchFamily="2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2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hyperlink" Target="http://softuni.bg/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softuni.org/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://creativecommons.org/licenses/by-nc-sa/4.0/" TargetMode="Externa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oftwaretestingmentor.com/selenium-tutorials/what-is-selenese/" TargetMode="External"/><Relationship Id="rId2" Type="http://schemas.openxmlformats.org/officeDocument/2006/relationships/hyperlink" Target="http://www.seleniumhq.org/projects/id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eleniumhq.org/projects/webdriver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hyperlink" Target="http://www.superhosting.bg/" TargetMode="External"/><Relationship Id="rId18" Type="http://schemas.openxmlformats.org/officeDocument/2006/relationships/hyperlink" Target="http://netpeak.bg/" TargetMode="External"/><Relationship Id="rId3" Type="http://schemas.openxmlformats.org/officeDocument/2006/relationships/hyperlink" Target="http://www.luxoft.com/" TargetMode="External"/><Relationship Id="rId7" Type="http://schemas.openxmlformats.org/officeDocument/2006/relationships/hyperlink" Target="http://komfo.com/" TargetMode="External"/><Relationship Id="rId12" Type="http://schemas.openxmlformats.org/officeDocument/2006/relationships/image" Target="../media/image22.png"/><Relationship Id="rId17" Type="http://schemas.openxmlformats.org/officeDocument/2006/relationships/hyperlink" Target="http://softuni.org/courses" TargetMode="Externa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4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hyperlink" Target="http://www.softwaregroup-bg.com/" TargetMode="External"/><Relationship Id="rId5" Type="http://schemas.openxmlformats.org/officeDocument/2006/relationships/hyperlink" Target="http://xs-software.com/" TargetMode="External"/><Relationship Id="rId15" Type="http://schemas.openxmlformats.org/officeDocument/2006/relationships/hyperlink" Target="http://www.indeavr.com/" TargetMode="External"/><Relationship Id="rId10" Type="http://schemas.openxmlformats.org/officeDocument/2006/relationships/image" Target="../media/image21.png"/><Relationship Id="rId19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hyperlink" Target="http://smartit.bg/" TargetMode="External"/><Relationship Id="rId1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eativecommons.org/licenses/by-nc-sa/3.0/deed.en_US" TargetMode="External"/><Relationship Id="rId5" Type="http://schemas.openxmlformats.org/officeDocument/2006/relationships/hyperlink" Target="http://telerikacademy.com/Courses/Courses/Details/200" TargetMode="Externa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0.png"/><Relationship Id="rId3" Type="http://schemas.openxmlformats.org/officeDocument/2006/relationships/hyperlink" Target="http://softuni.org/" TargetMode="External"/><Relationship Id="rId7" Type="http://schemas.openxmlformats.org/officeDocument/2006/relationships/hyperlink" Target="http://forum.softuni.bg/" TargetMode="External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youtube.com/SoftwareUniversity" TargetMode="External"/><Relationship Id="rId11" Type="http://schemas.openxmlformats.org/officeDocument/2006/relationships/image" Target="../media/image28.png"/><Relationship Id="rId5" Type="http://schemas.openxmlformats.org/officeDocument/2006/relationships/hyperlink" Target="https://www.facebook.com/SoftwareUniversity" TargetMode="External"/><Relationship Id="rId10" Type="http://schemas.openxmlformats.org/officeDocument/2006/relationships/hyperlink" Target="http://www.facebook.com/SoftwareUniversity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189412" y="990600"/>
            <a:ext cx="7229941" cy="10873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Test Automation with Selenium WebDriver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908270" y="2154171"/>
            <a:ext cx="7547528" cy="128090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Selenium Introduction, Record Actions, Use Selenium API in Java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60412" y="4419600"/>
            <a:ext cx="3187613" cy="525135"/>
          </a:xfrm>
        </p:spPr>
        <p:txBody>
          <a:bodyPr/>
          <a:lstStyle/>
          <a:p>
            <a:r>
              <a:rPr lang="en-US" dirty="0" smtClean="0"/>
              <a:t>Ivan </a:t>
            </a:r>
            <a:r>
              <a:rPr lang="en-US" dirty="0" err="1" smtClean="0"/>
              <a:t>Yonkov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60413" y="4889499"/>
            <a:ext cx="3187614" cy="444343"/>
          </a:xfrm>
        </p:spPr>
        <p:txBody>
          <a:bodyPr/>
          <a:lstStyle/>
          <a:p>
            <a:r>
              <a:rPr lang="en-US" dirty="0" smtClean="0"/>
              <a:t>Trainin</a:t>
            </a:r>
            <a:r>
              <a:rPr lang="en-US" dirty="0" smtClean="0"/>
              <a:t>g Lead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</a:t>
            </a:r>
            <a:r>
              <a:rPr lang="en-US" dirty="0" smtClean="0"/>
              <a:t>University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softuni.bg</a:t>
            </a:r>
            <a:endParaRPr lang="en-US" dirty="0"/>
          </a:p>
        </p:txBody>
      </p:sp>
      <p:pic>
        <p:nvPicPr>
          <p:cNvPr id="1028" name="Picture 4" title="CC-BY-NC-SA License">
            <a:hlinkClick r:id="rId4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83" y="2972635"/>
            <a:ext cx="2175525" cy="76116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  <a:extLst/>
        </p:spPr>
      </p:pic>
      <p:pic>
        <p:nvPicPr>
          <p:cNvPr id="14" name="Picture 2" title="Software University Foundation">
            <a:hlinkClick r:id="rId6" tooltip="Software University Foundation"/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33" t="-12099" r="-4044"/>
          <a:stretch/>
        </p:blipFill>
        <p:spPr bwMode="auto">
          <a:xfrm>
            <a:off x="825157" y="1727069"/>
            <a:ext cx="2172351" cy="795696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</p:pic>
      <p:pic>
        <p:nvPicPr>
          <p:cNvPr id="4" name="Picture 4" descr="http://blogofholding.com/wp-content/uploads/2014/04/s13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412" y="3560753"/>
            <a:ext cx="24003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http://softuni.bg" title="SoftUni Code Wizard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84612" y="3810000"/>
            <a:ext cx="2133598" cy="23414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rot="576164">
            <a:off x="5225257" y="3684121"/>
            <a:ext cx="2148858" cy="722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b="1" spc="50" dirty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QA</a:t>
            </a:r>
          </a:p>
          <a:p>
            <a:pPr algn="ctr">
              <a:lnSpc>
                <a:spcPct val="85000"/>
              </a:lnSpc>
            </a:pPr>
            <a:r>
              <a:rPr lang="en-US" b="1" spc="50" dirty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Fundamentals</a:t>
            </a:r>
          </a:p>
        </p:txBody>
      </p:sp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Test Automation Introduction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Selenium Introduction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Selenium IDE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Recording a Firefox Action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Exporting Test Cases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Using Selenium WebDriver Java API</a:t>
            </a:r>
            <a:endParaRPr lang="en-US" dirty="0"/>
          </a:p>
          <a:p>
            <a:pPr lvl="1"/>
            <a:r>
              <a:rPr lang="en-US" sz="30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Select Elements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sz="30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Send Keys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sz="30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Assertions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bg-B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212" y="1638368"/>
            <a:ext cx="3429001" cy="442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7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46212" y="5289718"/>
            <a:ext cx="8938472" cy="941082"/>
          </a:xfrm>
        </p:spPr>
        <p:txBody>
          <a:bodyPr/>
          <a:lstStyle/>
          <a:p>
            <a:pPr indent="-838200">
              <a:lnSpc>
                <a:spcPct val="110000"/>
              </a:lnSpc>
            </a:pPr>
            <a:r>
              <a:rPr lang="en-US" dirty="0" smtClean="0"/>
              <a:t>Automat…ion</a:t>
            </a:r>
            <a:endParaRPr lang="bg-BG" dirty="0"/>
          </a:p>
        </p:txBody>
      </p:sp>
      <p:pic>
        <p:nvPicPr>
          <p:cNvPr id="2050" name="Picture 2" descr="https://encrypted-tbn3.gstatic.com/images?q=tbn:ANd9GcTTCO-eKVV4-zrFd2YNSRZbDBt0JbqgquJKvkvOb-14BfoaNCd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812" y="1676400"/>
            <a:ext cx="527685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8684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Executing repetitive but necessary tasks</a:t>
            </a:r>
          </a:p>
          <a:p>
            <a:pPr lvl="1">
              <a:lnSpc>
                <a:spcPct val="1000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Login, registration, etc…</a:t>
            </a:r>
            <a:endParaRPr lang="en-US" sz="2800" noProof="1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Comparing the actual and expected outcomes</a:t>
            </a:r>
            <a:endParaRPr lang="en-US" sz="3200" dirty="0"/>
          </a:p>
          <a:p>
            <a:pPr lvl="1">
              <a:lnSpc>
                <a:spcPct val="1000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Checking visual result</a:t>
            </a:r>
          </a:p>
          <a:p>
            <a:pPr lvl="1">
              <a:lnSpc>
                <a:spcPct val="1000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Checking api responses</a:t>
            </a:r>
            <a:endParaRPr lang="en-US" sz="2800" dirty="0" smtClean="0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Adding a test to difficult to perform manual actions</a:t>
            </a:r>
          </a:p>
          <a:p>
            <a:pPr lvl="1">
              <a:lnSpc>
                <a:spcPct val="1000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Big scenario e.g. login the user, then add some products to cart, then check database, then checkout the cart, etc…</a:t>
            </a:r>
            <a:endParaRPr lang="en-US" sz="2800" noProof="1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Test Automation?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86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46212" y="5289718"/>
            <a:ext cx="8938472" cy="941082"/>
          </a:xfrm>
        </p:spPr>
        <p:txBody>
          <a:bodyPr/>
          <a:lstStyle/>
          <a:p>
            <a:pPr indent="-838200">
              <a:lnSpc>
                <a:spcPct val="110000"/>
              </a:lnSpc>
            </a:pPr>
            <a:r>
              <a:rPr lang="en-US" dirty="0" smtClean="0"/>
              <a:t>Selenium</a:t>
            </a:r>
            <a:endParaRPr lang="bg-BG" dirty="0"/>
          </a:p>
        </p:txBody>
      </p:sp>
      <p:pic>
        <p:nvPicPr>
          <p:cNvPr id="3074" name="Picture 2" descr="http://www.seleniumhq.org/images/big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12" y="1981200"/>
            <a:ext cx="2819400" cy="2551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99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Framework and a tool for web automation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Consists of two components</a:t>
            </a:r>
          </a:p>
          <a:p>
            <a:pPr lvl="1">
              <a:lnSpc>
                <a:spcPct val="100000"/>
              </a:lnSpc>
            </a:pPr>
            <a:r>
              <a:rPr lang="en-US" sz="2900" noProof="1" smtClean="0">
                <a:hlinkClick r:id="rId2"/>
              </a:rPr>
              <a:t>Selenium IDE </a:t>
            </a:r>
            <a:r>
              <a:rPr lang="en-US" sz="2900" noProof="1" smtClean="0"/>
              <a:t>– record/playback tool for Firefox</a:t>
            </a:r>
          </a:p>
          <a:p>
            <a:pPr lvl="1">
              <a:lnSpc>
                <a:spcPct val="100000"/>
              </a:lnSpc>
            </a:pPr>
            <a:r>
              <a:rPr lang="en-US" sz="2900" noProof="1" smtClean="0">
                <a:hlinkClick r:id="rId3"/>
              </a:rPr>
              <a:t>Selenese</a:t>
            </a:r>
            <a:r>
              <a:rPr lang="en-US" sz="2900" noProof="1" smtClean="0"/>
              <a:t> – A domain-specific language</a:t>
            </a:r>
          </a:p>
          <a:p>
            <a:pPr lvl="1">
              <a:lnSpc>
                <a:spcPct val="100000"/>
              </a:lnSpc>
            </a:pPr>
            <a:r>
              <a:rPr lang="en-US" sz="2900" noProof="1" smtClean="0">
                <a:hlinkClick r:id="rId4"/>
              </a:rPr>
              <a:t>Selenium WebDriver </a:t>
            </a:r>
            <a:r>
              <a:rPr lang="en-US" sz="2900" noProof="1" smtClean="0"/>
              <a:t>– API For most of the popular languages</a:t>
            </a:r>
            <a:endParaRPr lang="en-US" sz="2900" noProof="1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Selenium?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657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Selenium IDE</a:t>
            </a:r>
            <a:endParaRPr lang="en-US" dirty="0"/>
          </a:p>
        </p:txBody>
      </p:sp>
      <p:pic>
        <p:nvPicPr>
          <p:cNvPr id="1026" name="Picture 2" descr="http://www.seleniumhq.org/projects/ide/selenium-ide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212" y="773586"/>
            <a:ext cx="45720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43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Selenium IDE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Recording actions</a:t>
            </a:r>
          </a:p>
          <a:p>
            <a:r>
              <a:rPr lang="en-US" dirty="0" smtClean="0"/>
              <a:t>Using selectors/</a:t>
            </a:r>
            <a:r>
              <a:rPr lang="en-US" dirty="0" err="1" smtClean="0"/>
              <a:t>xpath</a:t>
            </a:r>
            <a:r>
              <a:rPr lang="en-US" dirty="0" smtClean="0"/>
              <a:t> for interaction</a:t>
            </a:r>
          </a:p>
          <a:p>
            <a:r>
              <a:rPr lang="en-US" dirty="0" smtClean="0"/>
              <a:t>Has basic own </a:t>
            </a:r>
            <a:r>
              <a:rPr lang="en-US" dirty="0" err="1" smtClean="0"/>
              <a:t>api</a:t>
            </a:r>
            <a:r>
              <a:rPr lang="en-US" dirty="0" smtClean="0"/>
              <a:t> for various actions (click, wait, select, etc..)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412" y="3910540"/>
            <a:ext cx="285750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5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46212" y="5244000"/>
            <a:ext cx="8938472" cy="986800"/>
          </a:xfrm>
        </p:spPr>
        <p:txBody>
          <a:bodyPr/>
          <a:lstStyle/>
          <a:p>
            <a:pPr indent="-838200">
              <a:lnSpc>
                <a:spcPct val="110000"/>
              </a:lnSpc>
            </a:pPr>
            <a:r>
              <a:rPr lang="en-US" dirty="0" smtClean="0"/>
              <a:t>Selenium IDE - Live Demo</a:t>
            </a:r>
            <a:endParaRPr lang="bg-BG" dirty="0"/>
          </a:p>
        </p:txBody>
      </p:sp>
      <p:pic>
        <p:nvPicPr>
          <p:cNvPr id="4" name="Picture 2" descr="http://www.seleniumhq.org/projects/ide/selenium-ide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013" y="457200"/>
            <a:ext cx="3657600" cy="475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91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Selenium WebDriver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Library for automating scripts in various languages (Java, C#, Ruby, Python, PHP…)</a:t>
            </a:r>
          </a:p>
          <a:p>
            <a:r>
              <a:rPr lang="en-US" dirty="0" smtClean="0"/>
              <a:t>Uses unit testing engine for a lot of the core actions</a:t>
            </a:r>
          </a:p>
          <a:p>
            <a:r>
              <a:rPr lang="en-US" dirty="0" smtClean="0"/>
              <a:t>Has API for all web-browser actions a user can do</a:t>
            </a:r>
          </a:p>
          <a:p>
            <a:endParaRPr lang="en-US" dirty="0"/>
          </a:p>
        </p:txBody>
      </p:sp>
      <p:pic>
        <p:nvPicPr>
          <p:cNvPr id="3076" name="Picture 4" descr="https://cdn.evbuc.com/images/6574125/18760803737/1/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212" y="3810000"/>
            <a:ext cx="3276600" cy="253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49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Selenium WebDriver API</a:t>
            </a:r>
            <a:endParaRPr lang="en-US" dirty="0"/>
          </a:p>
        </p:txBody>
      </p:sp>
      <p:pic>
        <p:nvPicPr>
          <p:cNvPr id="2050" name="Picture 2" descr="http://seleniumsimplified.com/image/courses/start_using_selenium_webdriver_50p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012" y="1981200"/>
            <a:ext cx="6477000" cy="364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57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Selenium </a:t>
            </a:r>
            <a:r>
              <a:rPr lang="en-US" dirty="0" err="1" smtClean="0"/>
              <a:t>WebDriver</a:t>
            </a:r>
            <a:r>
              <a:rPr lang="en-US" dirty="0" smtClean="0"/>
              <a:t> API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Maven dependencies</a:t>
            </a:r>
          </a:p>
          <a:p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370012" y="2667000"/>
            <a:ext cx="9033102" cy="184665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&lt;dependency&gt;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&lt;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groupId&gt;org.seleniumhq.selenium&lt;/groupId&gt;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&lt;artifactId&gt;selenium-java&lt;/artifactId&gt;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&lt;version&gt;2.45.0&lt;/version&gt;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296329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Selenium </a:t>
            </a:r>
            <a:r>
              <a:rPr lang="en-US" dirty="0" err="1" smtClean="0"/>
              <a:t>WebDriver</a:t>
            </a:r>
            <a:r>
              <a:rPr lang="en-US" dirty="0" smtClean="0"/>
              <a:t> API 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Setup a test class</a:t>
            </a:r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37424" y="2670105"/>
            <a:ext cx="11110800" cy="21975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class MyTest 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private WebDriver driver;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private String baseUrl;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private boolean acceptNextAlert = true;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private StringBuffer verificationErrors = new StringBuffer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594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Selenium </a:t>
            </a:r>
            <a:r>
              <a:rPr lang="en-US" dirty="0" err="1" smtClean="0"/>
              <a:t>WebDriver</a:t>
            </a:r>
            <a:r>
              <a:rPr lang="en-US" dirty="0" smtClean="0"/>
              <a:t> API (4)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Setup an initializer</a:t>
            </a:r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27037" y="2438400"/>
            <a:ext cx="11468197" cy="254839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@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Before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void setUp() throws Exception 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this.driver 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new FirefoxDriver();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this.baseUrl 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"http://application.to.test.com";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this.driver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.manage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().timeouts().implicitlyWait(30, 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TimeUnit.SECONDS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93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Selenium </a:t>
            </a:r>
            <a:r>
              <a:rPr lang="en-US" dirty="0" err="1" smtClean="0"/>
              <a:t>WebDriver</a:t>
            </a:r>
            <a:r>
              <a:rPr lang="en-US" dirty="0" smtClean="0"/>
              <a:t> API (5)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 smtClean="0"/>
              <a:t>Click on an element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sz="2900" noProof="1" smtClean="0"/>
              <a:t>Find the element – </a:t>
            </a:r>
            <a:r>
              <a:rPr lang="en-US" sz="2900" noProof="1" smtClean="0">
                <a:solidFill>
                  <a:schemeClr val="tx2">
                    <a:lumMod val="75000"/>
                  </a:schemeClr>
                </a:solidFill>
              </a:rPr>
              <a:t>findElement()</a:t>
            </a:r>
          </a:p>
          <a:p>
            <a:pPr lvl="1">
              <a:lnSpc>
                <a:spcPct val="100000"/>
              </a:lnSpc>
            </a:pPr>
            <a:r>
              <a:rPr lang="en-US" sz="2900" noProof="1" smtClean="0"/>
              <a:t>Use a certain selector – The </a:t>
            </a:r>
            <a:r>
              <a:rPr lang="en-US" sz="2900" noProof="1" smtClean="0">
                <a:solidFill>
                  <a:schemeClr val="tx2">
                    <a:lumMod val="75000"/>
                  </a:schemeClr>
                </a:solidFill>
              </a:rPr>
              <a:t>“By” </a:t>
            </a:r>
            <a:r>
              <a:rPr lang="en-US" sz="2900" noProof="1" smtClean="0"/>
              <a:t>class</a:t>
            </a:r>
          </a:p>
          <a:p>
            <a:pPr lvl="1">
              <a:lnSpc>
                <a:spcPct val="100000"/>
              </a:lnSpc>
            </a:pPr>
            <a:r>
              <a:rPr lang="en-US" sz="2900" noProof="1" smtClean="0"/>
              <a:t>Perform an action – </a:t>
            </a:r>
            <a:r>
              <a:rPr lang="en-US" sz="2900" noProof="1" smtClean="0">
                <a:solidFill>
                  <a:schemeClr val="tx2">
                    <a:lumMod val="75000"/>
                  </a:schemeClr>
                </a:solidFill>
              </a:rPr>
              <a:t>click()</a:t>
            </a:r>
          </a:p>
          <a:p>
            <a:pPr marL="377887" lvl="1" indent="0">
              <a:lnSpc>
                <a:spcPct val="100000"/>
              </a:lnSpc>
              <a:buNone/>
            </a:pPr>
            <a:endParaRPr lang="en-US" sz="2900" noProof="1" smtClean="0"/>
          </a:p>
          <a:p>
            <a:pPr lvl="1">
              <a:lnSpc>
                <a:spcPct val="100000"/>
              </a:lnSpc>
            </a:pPr>
            <a:endParaRPr lang="en-US" sz="2900" noProof="1"/>
          </a:p>
          <a:p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17612" y="4419600"/>
            <a:ext cx="9601200" cy="79406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this.driver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.</a:t>
            </a:r>
            <a:r>
              <a:rPr lang="en-US" b="1" noProof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findElement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</a:t>
            </a:r>
            <a:r>
              <a:rPr lang="en-US" b="1" noProof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By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</a:t>
            </a:r>
            <a:r>
              <a:rPr lang="en-US" b="1" u="sng" noProof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id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(“submit-btn")).</a:t>
            </a:r>
            <a:r>
              <a:rPr lang="en-US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click()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0455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46212" y="4329904"/>
            <a:ext cx="8938472" cy="1900896"/>
          </a:xfrm>
        </p:spPr>
        <p:txBody>
          <a:bodyPr/>
          <a:lstStyle/>
          <a:p>
            <a:pPr indent="-838200">
              <a:lnSpc>
                <a:spcPct val="110000"/>
              </a:lnSpc>
            </a:pPr>
            <a:r>
              <a:rPr lang="en-US" dirty="0" smtClean="0"/>
              <a:t>Selenium </a:t>
            </a:r>
            <a:r>
              <a:rPr lang="en-US" dirty="0" err="1" smtClean="0"/>
              <a:t>WebDriver</a:t>
            </a:r>
            <a:r>
              <a:rPr lang="en-US" dirty="0" smtClean="0"/>
              <a:t> - Live Demo</a:t>
            </a:r>
            <a:endParaRPr lang="bg-BG" dirty="0"/>
          </a:p>
        </p:txBody>
      </p:sp>
      <p:pic>
        <p:nvPicPr>
          <p:cNvPr id="5" name="Picture 2" descr="http://seleniumsimplified.com/image/courses/start_using_selenium_webdriver_50p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012" y="1219200"/>
            <a:ext cx="5410200" cy="304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5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Test automation theory</a:t>
            </a:r>
          </a:p>
          <a:p>
            <a:pPr lvl="1"/>
            <a:r>
              <a:rPr lang="en-US" dirty="0" smtClean="0"/>
              <a:t>Selenium IDE – record, play, export case</a:t>
            </a:r>
          </a:p>
          <a:p>
            <a:pPr lvl="1"/>
            <a:r>
              <a:rPr lang="en-US" dirty="0" smtClean="0"/>
              <a:t>Selenium WebDriver – using Java Library with Maven and JUnit to automate a simple scenario</a:t>
            </a:r>
          </a:p>
          <a:p>
            <a:pPr lvl="1"/>
            <a:r>
              <a:rPr lang="en-US" dirty="0" smtClean="0"/>
              <a:t>The </a:t>
            </a:r>
            <a:r>
              <a:rPr lang="en-US" sz="2800" dirty="0" err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findElement</a:t>
            </a: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() </a:t>
            </a:r>
            <a:r>
              <a:rPr lang="en-US" dirty="0" smtClean="0"/>
              <a:t>method</a:t>
            </a:r>
          </a:p>
          <a:p>
            <a:pPr lvl="1"/>
            <a:r>
              <a:rPr lang="en-US" dirty="0" smtClean="0"/>
              <a:t>The </a:t>
            </a: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By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static class</a:t>
            </a:r>
          </a:p>
          <a:p>
            <a:pPr lvl="1"/>
            <a:r>
              <a:rPr lang="en-US" dirty="0" smtClean="0"/>
              <a:t>Selector methods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96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535" y="5463746"/>
            <a:ext cx="1451877" cy="784654"/>
          </a:xfrm>
          <a:prstGeom prst="roundRect">
            <a:avLst>
              <a:gd name="adj" fmla="val 2953"/>
            </a:avLst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12" y="1295401"/>
            <a:ext cx="1752600" cy="804224"/>
          </a:xfrm>
          <a:prstGeom prst="roundRect">
            <a:avLst>
              <a:gd name="adj" fmla="val 3159"/>
            </a:avLst>
          </a:prstGeom>
        </p:spPr>
      </p:pic>
      <p:pic>
        <p:nvPicPr>
          <p:cNvPr id="7" name="Picture 6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9570" y="1295400"/>
            <a:ext cx="2040956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8" name="Picture 7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5852" y="1295400"/>
            <a:ext cx="2093874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9" name="Picture 8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612" y="5475299"/>
            <a:ext cx="2950821" cy="747701"/>
          </a:xfrm>
          <a:prstGeom prst="roundRect">
            <a:avLst>
              <a:gd name="adj" fmla="val 3159"/>
            </a:avLst>
          </a:prstGeom>
        </p:spPr>
      </p:pic>
      <p:pic>
        <p:nvPicPr>
          <p:cNvPr id="10" name="Picture 9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2212" y="5541096"/>
            <a:ext cx="3252400" cy="627432"/>
          </a:xfrm>
          <a:prstGeom prst="roundRect">
            <a:avLst>
              <a:gd name="adj" fmla="val 3159"/>
            </a:avLst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Automation Introduction</a:t>
            </a:r>
            <a:endParaRPr lang="en-US" dirty="0"/>
          </a:p>
        </p:txBody>
      </p:sp>
      <p:pic>
        <p:nvPicPr>
          <p:cNvPr id="13" name="Picture 12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59214" y="5461225"/>
            <a:ext cx="2551399" cy="787175"/>
          </a:xfrm>
          <a:prstGeom prst="roundRect">
            <a:avLst>
              <a:gd name="adj" fmla="val 2953"/>
            </a:avLst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17"/>
              </a:rPr>
              <a:t>http://softuni.org/courses</a:t>
            </a:r>
            <a:endParaRPr lang="en-US" dirty="0"/>
          </a:p>
        </p:txBody>
      </p:sp>
      <p:pic>
        <p:nvPicPr>
          <p:cNvPr id="18" name="Picture 17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75612" y="1316222"/>
            <a:ext cx="3631158" cy="783191"/>
          </a:xfrm>
          <a:prstGeom prst="roundRect">
            <a:avLst>
              <a:gd name="adj" fmla="val 3159"/>
            </a:avLst>
          </a:prstGeom>
        </p:spPr>
      </p:pic>
      <p:pic>
        <p:nvPicPr>
          <p:cNvPr id="14" name="Picture 13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80612" y="2729472"/>
            <a:ext cx="1726158" cy="932887"/>
          </a:xfrm>
          <a:prstGeom prst="roundRect">
            <a:avLst>
              <a:gd name="adj" fmla="val 2953"/>
            </a:avLst>
          </a:prstGeom>
        </p:spPr>
      </p:pic>
      <p:pic>
        <p:nvPicPr>
          <p:cNvPr id="15" name="Picture 14">
            <a:hlinkClick r:id="rId13"/>
          </p:cNvPr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5713413" y="4251041"/>
            <a:ext cx="5993358" cy="550371"/>
          </a:xfrm>
          <a:prstGeom prst="roundRect">
            <a:avLst>
              <a:gd name="adj" fmla="val 3159"/>
            </a:avLst>
          </a:prstGeom>
        </p:spPr>
      </p:pic>
    </p:spTree>
    <p:extLst>
      <p:ext uri="{BB962C8B-B14F-4D97-AF65-F5344CB8AC3E}">
        <p14:creationId xmlns:p14="http://schemas.microsoft.com/office/powerpoint/2010/main" val="155508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License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0413" y="1151121"/>
            <a:ext cx="11804822" cy="1796243"/>
          </a:xfrm>
        </p:spPr>
        <p:txBody>
          <a:bodyPr>
            <a:normAutofit/>
          </a:bodyPr>
          <a:lstStyle/>
          <a:p>
            <a:r>
              <a:rPr lang="en-US" dirty="0"/>
              <a:t>This </a:t>
            </a:r>
            <a:r>
              <a:rPr lang="en-US" dirty="0" smtClean="0"/>
              <a:t>course (slides, examples, demos, videos, homework, etc.)</a:t>
            </a:r>
            <a:br>
              <a:rPr lang="en-US" dirty="0" smtClean="0"/>
            </a:br>
            <a:r>
              <a:rPr lang="en-US" dirty="0" smtClean="0"/>
              <a:t>is </a:t>
            </a:r>
            <a:r>
              <a:rPr lang="en-US" dirty="0"/>
              <a:t>licensed </a:t>
            </a:r>
            <a:r>
              <a:rPr lang="en-US" dirty="0" smtClean="0"/>
              <a:t>under </a:t>
            </a:r>
            <a:r>
              <a:rPr lang="en-US" dirty="0"/>
              <a:t>the "</a:t>
            </a:r>
            <a:r>
              <a:rPr lang="en-US" dirty="0">
                <a:hlinkClick r:id="rId3"/>
              </a:rPr>
              <a:t>Creative Commons </a:t>
            </a:r>
            <a:r>
              <a:rPr lang="en-US" noProof="1" smtClean="0">
                <a:hlinkClick r:id="rId3"/>
              </a:rPr>
              <a:t>Attribution-NonCommercial-ShareAlike</a:t>
            </a:r>
            <a:r>
              <a:rPr lang="en-US" dirty="0" smtClean="0">
                <a:hlinkClick r:id="rId3"/>
              </a:rPr>
              <a:t> </a:t>
            </a:r>
            <a:r>
              <a:rPr lang="en-US" dirty="0">
                <a:hlinkClick r:id="rId3"/>
              </a:rPr>
              <a:t>4.0 International</a:t>
            </a:r>
            <a:r>
              <a:rPr lang="en-US" dirty="0"/>
              <a:t>" </a:t>
            </a:r>
            <a:r>
              <a:rPr lang="en-US" dirty="0" smtClean="0"/>
              <a:t>license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Picture 4" title="CC-BY-NC-SA License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637" y="3281192"/>
            <a:ext cx="3170776" cy="1109380"/>
          </a:xfrm>
          <a:prstGeom prst="roundRect">
            <a:avLst>
              <a:gd name="adj" fmla="val 432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>
            <a:spLocks noGrp="1"/>
          </p:cNvSpPr>
          <p:nvPr>
            <p:ph idx="4294967295"/>
          </p:nvPr>
        </p:nvSpPr>
        <p:spPr>
          <a:xfrm>
            <a:off x="188815" y="4724400"/>
            <a:ext cx="11804822" cy="1997079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2400" dirty="0" smtClean="0"/>
              <a:t>Attribution: this work may contain portions from</a:t>
            </a:r>
          </a:p>
          <a:p>
            <a:pPr lvl="1"/>
            <a:r>
              <a:rPr lang="en-US" sz="2000" dirty="0" smtClean="0"/>
              <a:t>"</a:t>
            </a:r>
            <a:r>
              <a:rPr lang="en-US" sz="2000" dirty="0" smtClean="0">
                <a:hlinkClick r:id="rId5"/>
              </a:rPr>
              <a:t>ASP.NET MVC</a:t>
            </a:r>
            <a:r>
              <a:rPr lang="en-US" sz="2000" dirty="0" smtClean="0"/>
              <a:t>" </a:t>
            </a:r>
            <a:r>
              <a:rPr lang="en-US" sz="2000" dirty="0"/>
              <a:t>course by </a:t>
            </a:r>
            <a:r>
              <a:rPr lang="en-US" sz="2000" noProof="1"/>
              <a:t>Telerik Academy</a:t>
            </a:r>
            <a:r>
              <a:rPr lang="en-US" sz="2000" dirty="0"/>
              <a:t> under </a:t>
            </a:r>
            <a:r>
              <a:rPr lang="en-US" sz="2000" dirty="0">
                <a:hlinkClick r:id="rId6"/>
              </a:rPr>
              <a:t>CC-BY-NC-SA</a:t>
            </a:r>
            <a:r>
              <a:rPr lang="en-US" sz="2000" dirty="0"/>
              <a:t> license</a:t>
            </a:r>
          </a:p>
        </p:txBody>
      </p:sp>
    </p:spTree>
    <p:extLst>
      <p:ext uri="{BB962C8B-B14F-4D97-AF65-F5344CB8AC3E}">
        <p14:creationId xmlns:p14="http://schemas.microsoft.com/office/powerpoint/2010/main" val="400776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59899" y="103056"/>
            <a:ext cx="9074150" cy="936625"/>
          </a:xfrm>
        </p:spPr>
        <p:txBody>
          <a:bodyPr>
            <a:normAutofit/>
          </a:bodyPr>
          <a:lstStyle/>
          <a:p>
            <a:r>
              <a:rPr lang="en-US" dirty="0"/>
              <a:t>Free Trainings @ Software University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59899" y="1039681"/>
            <a:ext cx="9434513" cy="56393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Software University Foundation – </a:t>
            </a:r>
            <a:r>
              <a:rPr lang="en-US" sz="3200" noProof="1" smtClean="0">
                <a:hlinkClick r:id="rId3"/>
              </a:rPr>
              <a:t>softuni.org</a:t>
            </a:r>
            <a:endParaRPr lang="en-US" sz="3200" noProof="1" smtClean="0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>
              <a:lnSpc>
                <a:spcPct val="100000"/>
              </a:lnSpc>
            </a:pPr>
            <a:r>
              <a:rPr lang="en-US" sz="2900" noProof="1">
                <a:hlinkClick r:id="rId4"/>
              </a:rPr>
              <a:t>softuni.bg</a:t>
            </a:r>
            <a:r>
              <a:rPr lang="en-US" sz="2900" noProof="1"/>
              <a:t> </a:t>
            </a:r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dirty="0" smtClean="0"/>
              <a:t>Software University </a:t>
            </a:r>
            <a:r>
              <a:rPr lang="en-US" dirty="0"/>
              <a:t>@ </a:t>
            </a:r>
            <a:r>
              <a:rPr lang="en-US" dirty="0" smtClean="0"/>
              <a:t>Facebook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5"/>
              </a:rPr>
              <a:t>facebook.com/SoftwareUniversity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dirty="0" smtClean="0"/>
              <a:t>Software </a:t>
            </a:r>
            <a:r>
              <a:rPr lang="en-US" dirty="0"/>
              <a:t>University @ </a:t>
            </a:r>
            <a:r>
              <a:rPr lang="en-US" dirty="0" smtClean="0"/>
              <a:t>YouTube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6"/>
              </a:rPr>
              <a:t>youtube.com/SoftwareUniversity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noProof="1" smtClean="0"/>
              <a:t>Software University Forums – </a:t>
            </a:r>
            <a:r>
              <a:rPr lang="en-US" dirty="0">
                <a:hlinkClick r:id="rId7"/>
              </a:rPr>
              <a:t>forum.softuni.bg</a:t>
            </a:r>
            <a:endParaRPr lang="en-US" noProof="1"/>
          </a:p>
        </p:txBody>
      </p:sp>
      <p:pic>
        <p:nvPicPr>
          <p:cNvPr id="9" name="Picture 8" title="Software University">
            <a:hlinkClick r:id="rId4" tooltip="Software University"/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59438" y="1594686"/>
            <a:ext cx="1834974" cy="1570200"/>
          </a:xfrm>
          <a:prstGeom prst="rect">
            <a:avLst/>
          </a:prstGeom>
          <a:ln w="12700">
            <a:solidFill>
              <a:srgbClr val="55438F">
                <a:alpha val="70000"/>
              </a:srgbClr>
            </a:solidFill>
          </a:ln>
        </p:spPr>
      </p:pic>
      <p:pic>
        <p:nvPicPr>
          <p:cNvPr id="10" name="Picture 9" title="Software University Foundation">
            <a:hlinkClick r:id="rId3" tooltip="Software University Foundation"/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59" t="-15226" r="-5359" b="-15226"/>
          <a:stretch/>
        </p:blipFill>
        <p:spPr>
          <a:xfrm>
            <a:off x="9457098" y="466964"/>
            <a:ext cx="2269870" cy="874916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pic>
        <p:nvPicPr>
          <p:cNvPr id="11" name="Picture 4" title="Software University @ Facebook">
            <a:hlinkClick r:id="rId10" tooltip="Software University @ Facebook"/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75536" y="3385124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title="Software University Videos @ YouTube">
            <a:hlinkClick r:id="rId6" tooltip="Software University YouTube Video Channel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544" y="4589658"/>
            <a:ext cx="1837868" cy="675261"/>
          </a:xfrm>
          <a:prstGeom prst="rect">
            <a:avLst/>
          </a:prstGeom>
          <a:ln w="25400">
            <a:solidFill>
              <a:schemeClr val="bg1">
                <a:lumMod val="50000"/>
                <a:lumOff val="50000"/>
                <a:alpha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title="Software University - Forum">
            <a:hlinkClick r:id="rId7" tooltip="Software University Discussion Forum"/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334" y="5540172"/>
            <a:ext cx="970156" cy="96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8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Software-University-Foundation</Template>
  <TotalTime>0</TotalTime>
  <Words>685</Words>
  <Application>Microsoft Office PowerPoint</Application>
  <PresentationFormat>Custom</PresentationFormat>
  <Paragraphs>137</Paragraphs>
  <Slides>20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SoftUni 16x9</vt:lpstr>
      <vt:lpstr>Test Automation with Selenium WebDriver</vt:lpstr>
      <vt:lpstr>Table of Contents</vt:lpstr>
      <vt:lpstr>Automat…ion</vt:lpstr>
      <vt:lpstr>What is Test Automation?</vt:lpstr>
      <vt:lpstr>Selenium</vt:lpstr>
      <vt:lpstr>Introduction to Selenium?</vt:lpstr>
      <vt:lpstr>Selenium IDE</vt:lpstr>
      <vt:lpstr>Selenium IDE (2)</vt:lpstr>
      <vt:lpstr>Selenium IDE - Live Demo</vt:lpstr>
      <vt:lpstr>Selenium WebDriver</vt:lpstr>
      <vt:lpstr>Selenium WebDriver API</vt:lpstr>
      <vt:lpstr>Selenium WebDriver API (2)</vt:lpstr>
      <vt:lpstr>Selenium WebDriver API (3)</vt:lpstr>
      <vt:lpstr>Selenium WebDriver API (4)</vt:lpstr>
      <vt:lpstr>Selenium WebDriver API (5)</vt:lpstr>
      <vt:lpstr>Selenium WebDriver - Live Demo</vt:lpstr>
      <vt:lpstr>Summary</vt:lpstr>
      <vt:lpstr>Test Automation Introduction</vt:lpstr>
      <vt:lpstr>License</vt:lpstr>
      <vt:lpstr>Free Trainings @ Software University</vt:lpstr>
    </vt:vector>
  </TitlesOfParts>
  <Manager/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Selenium</dc:title>
  <dc:subject>Software Development Course</dc:subject>
  <dc:creator/>
  <cp:keywords>Test Automation, Selenium, WebDriver, SoftUni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2016-03-24T10:29:15Z</dcterms:modified>
  <cp:category>Test Automation, Selenium, WebDriver, SoftUni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